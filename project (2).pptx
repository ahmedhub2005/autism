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Tomorrow" charset="1" panose="00000000000000000000"/>
      <p:regular r:id="rId29"/>
    </p:embeddedFont>
    <p:embeddedFont>
      <p:font typeface="Montserrat Bold" charset="1" panose="00000800000000000000"/>
      <p:regular r:id="rId30"/>
    </p:embeddedFont>
    <p:embeddedFont>
      <p:font typeface="Montserrat Medium" charset="1" panose="00000600000000000000"/>
      <p:regular r:id="rId31"/>
    </p:embeddedFont>
    <p:embeddedFont>
      <p:font typeface="Montserrat" charset="1" panose="00000500000000000000"/>
      <p:regular r:id="rId32"/>
    </p:embeddedFont>
    <p:embeddedFont>
      <p:font typeface="March Rough" charset="1" panose="020005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90E32">
                <a:alpha val="100000"/>
              </a:srgbClr>
            </a:gs>
            <a:gs pos="100000">
              <a:srgbClr val="1B1C4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8214826" y="-483261"/>
            <a:ext cx="14920931" cy="12738745"/>
          </a:xfrm>
          <a:custGeom>
            <a:avLst/>
            <a:gdLst/>
            <a:ahLst/>
            <a:cxnLst/>
            <a:rect r="r" b="b" t="t" l="l"/>
            <a:pathLst>
              <a:path h="12738745" w="14920931">
                <a:moveTo>
                  <a:pt x="0" y="0"/>
                </a:moveTo>
                <a:lnTo>
                  <a:pt x="14920931" y="0"/>
                </a:lnTo>
                <a:lnTo>
                  <a:pt x="14920931" y="12738745"/>
                </a:lnTo>
                <a:lnTo>
                  <a:pt x="0" y="12738745"/>
                </a:lnTo>
                <a:lnTo>
                  <a:pt x="0" y="0"/>
                </a:lnTo>
                <a:close/>
              </a:path>
            </a:pathLst>
          </a:custGeom>
          <a:blipFill>
            <a:blip r:embed="rId2">
              <a:alphaModFix amt="50000"/>
            </a:blip>
            <a:stretch>
              <a:fillRect l="0" t="0" r="0" b="0"/>
            </a:stretch>
          </a:blipFill>
        </p:spPr>
      </p:sp>
      <p:sp>
        <p:nvSpPr>
          <p:cNvPr name="AutoShape 3" id="3"/>
          <p:cNvSpPr/>
          <p:nvPr/>
        </p:nvSpPr>
        <p:spPr>
          <a:xfrm>
            <a:off x="1028700" y="8478779"/>
            <a:ext cx="16230600" cy="19050"/>
          </a:xfrm>
          <a:prstGeom prst="line">
            <a:avLst/>
          </a:prstGeom>
          <a:ln cap="flat" w="19050">
            <a:gradFill>
              <a:gsLst>
                <a:gs pos="0">
                  <a:srgbClr val="FFFFFF">
                    <a:alpha val="100000"/>
                  </a:srgbClr>
                </a:gs>
                <a:gs pos="100000">
                  <a:srgbClr val="FFFFFF">
                    <a:alpha val="100000"/>
                  </a:srgbClr>
                </a:gs>
              </a:gsLst>
              <a:lin ang="0"/>
            </a:gradFill>
            <a:prstDash val="solid"/>
            <a:headEnd type="none" len="sm" w="sm"/>
            <a:tailEnd type="none" len="sm" w="sm"/>
          </a:ln>
        </p:spPr>
      </p:sp>
      <p:sp>
        <p:nvSpPr>
          <p:cNvPr name="TextBox 4" id="4"/>
          <p:cNvSpPr txBox="true"/>
          <p:nvPr/>
        </p:nvSpPr>
        <p:spPr>
          <a:xfrm rot="0">
            <a:off x="618063" y="2915133"/>
            <a:ext cx="9733055" cy="1281205"/>
          </a:xfrm>
          <a:prstGeom prst="rect">
            <a:avLst/>
          </a:prstGeom>
        </p:spPr>
        <p:txBody>
          <a:bodyPr anchor="t" rtlCol="false" tIns="0" lIns="0" bIns="0" rIns="0">
            <a:spAutoFit/>
          </a:bodyPr>
          <a:lstStyle/>
          <a:p>
            <a:pPr algn="l">
              <a:lnSpc>
                <a:spcPts val="9620"/>
              </a:lnSpc>
            </a:pPr>
            <a:r>
              <a:rPr lang="en-US" sz="9620">
                <a:solidFill>
                  <a:srgbClr val="1FFFD0"/>
                </a:solidFill>
                <a:latin typeface="Tomorrow"/>
                <a:ea typeface="Tomorrow"/>
                <a:cs typeface="Tomorrow"/>
                <a:sym typeface="Tomorrow"/>
              </a:rPr>
              <a:t>AUTISM</a:t>
            </a:r>
          </a:p>
        </p:txBody>
      </p:sp>
      <p:sp>
        <p:nvSpPr>
          <p:cNvPr name="Freeform 5" id="5"/>
          <p:cNvSpPr/>
          <p:nvPr/>
        </p:nvSpPr>
        <p:spPr>
          <a:xfrm flipH="false" flipV="false" rot="837073">
            <a:off x="10372171" y="3443111"/>
            <a:ext cx="9381458" cy="3400779"/>
          </a:xfrm>
          <a:custGeom>
            <a:avLst/>
            <a:gdLst/>
            <a:ahLst/>
            <a:cxnLst/>
            <a:rect r="r" b="b" t="t" l="l"/>
            <a:pathLst>
              <a:path h="3400779" w="9381458">
                <a:moveTo>
                  <a:pt x="0" y="0"/>
                </a:moveTo>
                <a:lnTo>
                  <a:pt x="9381458" y="0"/>
                </a:lnTo>
                <a:lnTo>
                  <a:pt x="9381458" y="3400778"/>
                </a:lnTo>
                <a:lnTo>
                  <a:pt x="0" y="3400778"/>
                </a:lnTo>
                <a:lnTo>
                  <a:pt x="0" y="0"/>
                </a:lnTo>
                <a:close/>
              </a:path>
            </a:pathLst>
          </a:custGeom>
          <a:blipFill>
            <a:blip r:embed="rId3"/>
            <a:stretch>
              <a:fillRect l="0" t="0" r="0" b="0"/>
            </a:stretch>
          </a:blipFill>
        </p:spPr>
      </p:sp>
      <p:sp>
        <p:nvSpPr>
          <p:cNvPr name="TextBox 6" id="6"/>
          <p:cNvSpPr txBox="true"/>
          <p:nvPr/>
        </p:nvSpPr>
        <p:spPr>
          <a:xfrm rot="0">
            <a:off x="1265202" y="924561"/>
            <a:ext cx="1717377" cy="450031"/>
          </a:xfrm>
          <a:prstGeom prst="rect">
            <a:avLst/>
          </a:prstGeom>
        </p:spPr>
        <p:txBody>
          <a:bodyPr anchor="t" rtlCol="false" tIns="0" lIns="0" bIns="0" rIns="0">
            <a:spAutoFit/>
          </a:bodyPr>
          <a:lstStyle/>
          <a:p>
            <a:pPr algn="ctr">
              <a:lnSpc>
                <a:spcPts val="3702"/>
              </a:lnSpc>
              <a:spcBef>
                <a:spcPct val="0"/>
              </a:spcBef>
            </a:pPr>
            <a:r>
              <a:rPr lang="en-US" b="true" sz="2644">
                <a:solidFill>
                  <a:srgbClr val="090E32"/>
                </a:solidFill>
                <a:latin typeface="Montserrat Bold"/>
                <a:ea typeface="Montserrat Bold"/>
                <a:cs typeface="Montserrat Bold"/>
                <a:sym typeface="Montserrat Bold"/>
              </a:rPr>
              <a:t>Borcelle</a:t>
            </a:r>
          </a:p>
        </p:txBody>
      </p:sp>
      <p:sp>
        <p:nvSpPr>
          <p:cNvPr name="TextBox 7" id="7"/>
          <p:cNvSpPr txBox="true"/>
          <p:nvPr/>
        </p:nvSpPr>
        <p:spPr>
          <a:xfrm rot="0">
            <a:off x="618063" y="5470179"/>
            <a:ext cx="8526135" cy="746140"/>
          </a:xfrm>
          <a:prstGeom prst="rect">
            <a:avLst/>
          </a:prstGeom>
        </p:spPr>
        <p:txBody>
          <a:bodyPr anchor="t" rtlCol="false" tIns="0" lIns="0" bIns="0" rIns="0">
            <a:spAutoFit/>
          </a:bodyPr>
          <a:lstStyle/>
          <a:p>
            <a:pPr algn="l">
              <a:lnSpc>
                <a:spcPts val="6124"/>
              </a:lnSpc>
            </a:pPr>
            <a:r>
              <a:rPr lang="en-US" sz="4374" b="true">
                <a:solidFill>
                  <a:srgbClr val="FFFFFF"/>
                </a:solidFill>
                <a:latin typeface="Montserrat Medium"/>
                <a:ea typeface="Montserrat Medium"/>
                <a:cs typeface="Montserrat Medium"/>
                <a:sym typeface="Montserrat Medium"/>
              </a:rPr>
              <a:t>AHMED HAMDY</a:t>
            </a:r>
          </a:p>
        </p:txBody>
      </p:sp>
      <p:sp>
        <p:nvSpPr>
          <p:cNvPr name="TextBox 8" id="8"/>
          <p:cNvSpPr txBox="true"/>
          <p:nvPr/>
        </p:nvSpPr>
        <p:spPr>
          <a:xfrm rot="0">
            <a:off x="14113404" y="8859779"/>
            <a:ext cx="3117321" cy="438786"/>
          </a:xfrm>
          <a:prstGeom prst="rect">
            <a:avLst/>
          </a:prstGeom>
        </p:spPr>
        <p:txBody>
          <a:bodyPr anchor="t" rtlCol="false" tIns="0" lIns="0" bIns="0" rIns="0">
            <a:spAutoFit/>
          </a:bodyPr>
          <a:lstStyle/>
          <a:p>
            <a:pPr algn="r">
              <a:lnSpc>
                <a:spcPts val="3639"/>
              </a:lnSpc>
              <a:spcBef>
                <a:spcPct val="0"/>
              </a:spcBef>
            </a:pPr>
            <a:r>
              <a:rPr lang="en-US" sz="2599">
                <a:solidFill>
                  <a:srgbClr val="EFEFEF"/>
                </a:solidFill>
                <a:latin typeface="Montserrat"/>
                <a:ea typeface="Montserrat"/>
                <a:cs typeface="Montserrat"/>
                <a:sym typeface="Montserrat"/>
              </a:rPr>
              <a:t>Page 01</a:t>
            </a:r>
          </a:p>
        </p:txBody>
      </p:sp>
      <p:sp>
        <p:nvSpPr>
          <p:cNvPr name="TextBox 9" id="9"/>
          <p:cNvSpPr txBox="true"/>
          <p:nvPr/>
        </p:nvSpPr>
        <p:spPr>
          <a:xfrm rot="0">
            <a:off x="5484590" y="8859779"/>
            <a:ext cx="1406261" cy="438786"/>
          </a:xfrm>
          <a:prstGeom prst="rect">
            <a:avLst/>
          </a:prstGeom>
        </p:spPr>
        <p:txBody>
          <a:bodyPr anchor="t" rtlCol="false" tIns="0" lIns="0" bIns="0" rIns="0">
            <a:spAutoFit/>
          </a:bodyPr>
          <a:lstStyle/>
          <a:p>
            <a:pPr algn="ctr">
              <a:lnSpc>
                <a:spcPts val="3639"/>
              </a:lnSpc>
              <a:spcBef>
                <a:spcPct val="0"/>
              </a:spcBef>
            </a:pPr>
            <a:r>
              <a:rPr lang="en-US" sz="2599">
                <a:solidFill>
                  <a:srgbClr val="EFEFEF"/>
                </a:solidFill>
                <a:latin typeface="Montserrat"/>
                <a:ea typeface="Montserrat"/>
                <a:cs typeface="Montserrat"/>
                <a:sym typeface="Montserrat"/>
              </a:rPr>
              <a:t>-</a:t>
            </a:r>
          </a:p>
        </p:txBody>
      </p:sp>
      <p:sp>
        <p:nvSpPr>
          <p:cNvPr name="TextBox 10" id="10"/>
          <p:cNvSpPr txBox="true"/>
          <p:nvPr/>
        </p:nvSpPr>
        <p:spPr>
          <a:xfrm rot="0">
            <a:off x="12330761" y="8859779"/>
            <a:ext cx="1406261" cy="438786"/>
          </a:xfrm>
          <a:prstGeom prst="rect">
            <a:avLst/>
          </a:prstGeom>
        </p:spPr>
        <p:txBody>
          <a:bodyPr anchor="t" rtlCol="false" tIns="0" lIns="0" bIns="0" rIns="0">
            <a:spAutoFit/>
          </a:bodyPr>
          <a:lstStyle/>
          <a:p>
            <a:pPr algn="ctr">
              <a:lnSpc>
                <a:spcPts val="3639"/>
              </a:lnSpc>
              <a:spcBef>
                <a:spcPct val="0"/>
              </a:spcBef>
            </a:pPr>
            <a:r>
              <a:rPr lang="en-US" sz="2599">
                <a:solidFill>
                  <a:srgbClr val="EFEFEF"/>
                </a:solidFill>
                <a:latin typeface="Montserrat"/>
                <a:ea typeface="Montserrat"/>
                <a:cs typeface="Montserrat"/>
                <a:sym typeface="Montserrat"/>
              </a:rPr>
              <a:t>-</a:t>
            </a:r>
          </a:p>
        </p:txBody>
      </p:sp>
      <p:sp>
        <p:nvSpPr>
          <p:cNvPr name="TextBox 11" id="11"/>
          <p:cNvSpPr txBox="true"/>
          <p:nvPr/>
        </p:nvSpPr>
        <p:spPr>
          <a:xfrm rot="0">
            <a:off x="618063" y="4107299"/>
            <a:ext cx="9733055" cy="1281205"/>
          </a:xfrm>
          <a:prstGeom prst="rect">
            <a:avLst/>
          </a:prstGeom>
        </p:spPr>
        <p:txBody>
          <a:bodyPr anchor="t" rtlCol="false" tIns="0" lIns="0" bIns="0" rIns="0">
            <a:spAutoFit/>
          </a:bodyPr>
          <a:lstStyle/>
          <a:p>
            <a:pPr algn="l">
              <a:lnSpc>
                <a:spcPts val="9620"/>
              </a:lnSpc>
            </a:pPr>
            <a:r>
              <a:rPr lang="en-US" sz="9620">
                <a:solidFill>
                  <a:srgbClr val="1FFFD0"/>
                </a:solidFill>
                <a:latin typeface="Tomorrow"/>
                <a:ea typeface="Tomorrow"/>
                <a:cs typeface="Tomorrow"/>
                <a:sym typeface="Tomorrow"/>
              </a:rPr>
              <a:t>DETECTION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90E32">
                <a:alpha val="100000"/>
              </a:srgbClr>
            </a:gs>
            <a:gs pos="100000">
              <a:srgbClr val="1B1C4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426722" y="1294172"/>
            <a:ext cx="7566749" cy="6841470"/>
          </a:xfrm>
          <a:custGeom>
            <a:avLst/>
            <a:gdLst/>
            <a:ahLst/>
            <a:cxnLst/>
            <a:rect r="r" b="b" t="t" l="l"/>
            <a:pathLst>
              <a:path h="6841470" w="7566749">
                <a:moveTo>
                  <a:pt x="0" y="0"/>
                </a:moveTo>
                <a:lnTo>
                  <a:pt x="7566749" y="0"/>
                </a:lnTo>
                <a:lnTo>
                  <a:pt x="7566749" y="6841471"/>
                </a:lnTo>
                <a:lnTo>
                  <a:pt x="0" y="6841471"/>
                </a:lnTo>
                <a:lnTo>
                  <a:pt x="0" y="0"/>
                </a:lnTo>
                <a:close/>
              </a:path>
            </a:pathLst>
          </a:custGeom>
          <a:blipFill>
            <a:blip r:embed="rId2"/>
            <a:stretch>
              <a:fillRect l="-6509" t="0" r="-6509" b="0"/>
            </a:stretch>
          </a:blipFill>
        </p:spPr>
      </p:sp>
      <p:sp>
        <p:nvSpPr>
          <p:cNvPr name="TextBox 3" id="3"/>
          <p:cNvSpPr txBox="true"/>
          <p:nvPr/>
        </p:nvSpPr>
        <p:spPr>
          <a:xfrm rot="0">
            <a:off x="5221278" y="200753"/>
            <a:ext cx="8155163" cy="1579695"/>
          </a:xfrm>
          <a:prstGeom prst="rect">
            <a:avLst/>
          </a:prstGeom>
        </p:spPr>
        <p:txBody>
          <a:bodyPr anchor="t" rtlCol="false" tIns="0" lIns="0" bIns="0" rIns="0">
            <a:spAutoFit/>
          </a:bodyPr>
          <a:lstStyle/>
          <a:p>
            <a:pPr algn="ctr">
              <a:lnSpc>
                <a:spcPts val="6380"/>
              </a:lnSpc>
            </a:pPr>
            <a:r>
              <a:rPr lang="en-US" sz="4557">
                <a:solidFill>
                  <a:srgbClr val="FFFFFF"/>
                </a:solidFill>
                <a:latin typeface="Montserrat"/>
                <a:ea typeface="Montserrat"/>
                <a:cs typeface="Montserrat"/>
                <a:sym typeface="Montserrat"/>
              </a:rPr>
              <a:t>🧩 Introduction to Autism</a:t>
            </a:r>
          </a:p>
          <a:p>
            <a:pPr algn="ctr">
              <a:lnSpc>
                <a:spcPts val="6380"/>
              </a:lnSpc>
              <a:spcBef>
                <a:spcPct val="0"/>
              </a:spcBef>
            </a:pPr>
          </a:p>
        </p:txBody>
      </p:sp>
      <p:sp>
        <p:nvSpPr>
          <p:cNvPr name="TextBox 4" id="4"/>
          <p:cNvSpPr txBox="true"/>
          <p:nvPr/>
        </p:nvSpPr>
        <p:spPr>
          <a:xfrm rot="0">
            <a:off x="0" y="1217972"/>
            <a:ext cx="9774497" cy="6917670"/>
          </a:xfrm>
          <a:prstGeom prst="rect">
            <a:avLst/>
          </a:prstGeom>
        </p:spPr>
        <p:txBody>
          <a:bodyPr anchor="t" rtlCol="false" tIns="0" lIns="0" bIns="0" rIns="0">
            <a:spAutoFit/>
          </a:bodyPr>
          <a:lstStyle/>
          <a:p>
            <a:pPr algn="ctr">
              <a:lnSpc>
                <a:spcPts val="5005"/>
              </a:lnSpc>
              <a:spcBef>
                <a:spcPct val="0"/>
              </a:spcBef>
            </a:pPr>
            <a:r>
              <a:rPr lang="en-US" sz="3575">
                <a:solidFill>
                  <a:srgbClr val="FFFFFF"/>
                </a:solidFill>
                <a:latin typeface="Montserrat"/>
                <a:ea typeface="Montserrat"/>
                <a:cs typeface="Montserrat"/>
                <a:sym typeface="Montserrat"/>
              </a:rPr>
              <a:t>Autism, or Autism Spectrum Disorder (ASD), is a complex neurodevelopmental condition characterized by differences in communication, behavior, and social interaction. It affects individuals in diverse ways, with symptoms ranging from subtle challenges to significant support needs. Autism is not a disease to be cured, but a spectrum of unique cognitive profiles that shape how people perceive and engage with the world</a:t>
            </a:r>
          </a:p>
        </p:txBody>
      </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090E32">
                <a:alpha val="100000"/>
              </a:srgbClr>
            </a:gs>
            <a:gs pos="100000">
              <a:srgbClr val="1B1C47">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5595111" y="155274"/>
            <a:ext cx="8328715" cy="1651602"/>
          </a:xfrm>
          <a:prstGeom prst="rect">
            <a:avLst/>
          </a:prstGeom>
        </p:spPr>
        <p:txBody>
          <a:bodyPr anchor="t" rtlCol="false" tIns="0" lIns="0" bIns="0" rIns="0">
            <a:spAutoFit/>
          </a:bodyPr>
          <a:lstStyle/>
          <a:p>
            <a:pPr algn="ctr">
              <a:lnSpc>
                <a:spcPts val="6671"/>
              </a:lnSpc>
              <a:spcBef>
                <a:spcPct val="0"/>
              </a:spcBef>
            </a:pPr>
            <a:r>
              <a:rPr lang="en-US" sz="4765">
                <a:solidFill>
                  <a:srgbClr val="FFFFFF"/>
                </a:solidFill>
                <a:latin typeface="March Rough"/>
                <a:ea typeface="March Rough"/>
                <a:cs typeface="March Rough"/>
                <a:sym typeface="March Rough"/>
              </a:rPr>
              <a:t>Executive Summary of Methodology</a:t>
            </a:r>
          </a:p>
        </p:txBody>
      </p:sp>
      <p:sp>
        <p:nvSpPr>
          <p:cNvPr name="TextBox 3" id="3"/>
          <p:cNvSpPr txBox="true"/>
          <p:nvPr/>
        </p:nvSpPr>
        <p:spPr>
          <a:xfrm rot="0">
            <a:off x="270233" y="1930458"/>
            <a:ext cx="5486646"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Data Collection 🧪</a:t>
            </a:r>
          </a:p>
        </p:txBody>
      </p:sp>
      <p:sp>
        <p:nvSpPr>
          <p:cNvPr name="TextBox 4" id="4"/>
          <p:cNvSpPr txBox="true"/>
          <p:nvPr/>
        </p:nvSpPr>
        <p:spPr>
          <a:xfrm rot="0">
            <a:off x="5993495" y="6007369"/>
            <a:ext cx="5619382" cy="1437455"/>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Machine Learning Model</a:t>
            </a:r>
          </a:p>
        </p:txBody>
      </p:sp>
      <p:sp>
        <p:nvSpPr>
          <p:cNvPr name="TextBox 5" id="5"/>
          <p:cNvSpPr txBox="true"/>
          <p:nvPr/>
        </p:nvSpPr>
        <p:spPr>
          <a:xfrm rot="0">
            <a:off x="13061909" y="6234579"/>
            <a:ext cx="5107526"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Neural Network🧬</a:t>
            </a:r>
          </a:p>
        </p:txBody>
      </p:sp>
      <p:sp>
        <p:nvSpPr>
          <p:cNvPr name="TextBox 6" id="6"/>
          <p:cNvSpPr txBox="true"/>
          <p:nvPr/>
        </p:nvSpPr>
        <p:spPr>
          <a:xfrm rot="0">
            <a:off x="11761946" y="1930458"/>
            <a:ext cx="6127846" cy="2170880"/>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Data PreProcessing⚙️</a:t>
            </a:r>
          </a:p>
          <a:p>
            <a:pPr algn="ctr">
              <a:lnSpc>
                <a:spcPts val="5820"/>
              </a:lnSpc>
            </a:pPr>
          </a:p>
          <a:p>
            <a:pPr algn="ctr">
              <a:lnSpc>
                <a:spcPts val="5820"/>
              </a:lnSpc>
              <a:spcBef>
                <a:spcPct val="0"/>
              </a:spcBef>
            </a:pPr>
          </a:p>
        </p:txBody>
      </p:sp>
      <p:sp>
        <p:nvSpPr>
          <p:cNvPr name="TextBox 7" id="7"/>
          <p:cNvSpPr txBox="true"/>
          <p:nvPr/>
        </p:nvSpPr>
        <p:spPr>
          <a:xfrm rot="0">
            <a:off x="6231946" y="1930458"/>
            <a:ext cx="5142481"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Data Wrangling🧹</a:t>
            </a:r>
          </a:p>
        </p:txBody>
      </p:sp>
      <p:sp>
        <p:nvSpPr>
          <p:cNvPr name="TextBox 8" id="8"/>
          <p:cNvSpPr txBox="true"/>
          <p:nvPr/>
        </p:nvSpPr>
        <p:spPr>
          <a:xfrm rot="0">
            <a:off x="-400208" y="6007369"/>
            <a:ext cx="6393703" cy="2170880"/>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•Exploratory Data Analysis📊</a:t>
            </a:r>
          </a:p>
          <a:p>
            <a:pPr algn="ctr">
              <a:lnSpc>
                <a:spcPts val="582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90E32">
                <a:alpha val="100000"/>
              </a:srgbClr>
            </a:gs>
            <a:gs pos="100000">
              <a:srgbClr val="1B1C4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803088" y="2227509"/>
            <a:ext cx="11301259" cy="5043187"/>
          </a:xfrm>
          <a:custGeom>
            <a:avLst/>
            <a:gdLst/>
            <a:ahLst/>
            <a:cxnLst/>
            <a:rect r="r" b="b" t="t" l="l"/>
            <a:pathLst>
              <a:path h="5043187" w="11301259">
                <a:moveTo>
                  <a:pt x="0" y="0"/>
                </a:moveTo>
                <a:lnTo>
                  <a:pt x="11301259" y="0"/>
                </a:lnTo>
                <a:lnTo>
                  <a:pt x="11301259" y="5043187"/>
                </a:lnTo>
                <a:lnTo>
                  <a:pt x="0" y="5043187"/>
                </a:lnTo>
                <a:lnTo>
                  <a:pt x="0" y="0"/>
                </a:lnTo>
                <a:close/>
              </a:path>
            </a:pathLst>
          </a:custGeom>
          <a:blipFill>
            <a:blip r:embed="rId2"/>
            <a:stretch>
              <a:fillRect l="0" t="0" r="0" b="0"/>
            </a:stretch>
          </a:blipFill>
        </p:spPr>
      </p:sp>
      <p:sp>
        <p:nvSpPr>
          <p:cNvPr name="TextBox 3" id="3"/>
          <p:cNvSpPr txBox="true"/>
          <p:nvPr/>
        </p:nvSpPr>
        <p:spPr>
          <a:xfrm rot="0">
            <a:off x="3803088" y="590960"/>
            <a:ext cx="11301259" cy="1094740"/>
          </a:xfrm>
          <a:prstGeom prst="rect">
            <a:avLst/>
          </a:prstGeom>
        </p:spPr>
        <p:txBody>
          <a:bodyPr anchor="t" rtlCol="false" tIns="0" lIns="0" bIns="0" rIns="0">
            <a:spAutoFit/>
          </a:bodyPr>
          <a:lstStyle/>
          <a:p>
            <a:pPr algn="ctr">
              <a:lnSpc>
                <a:spcPts val="8959"/>
              </a:lnSpc>
              <a:spcBef>
                <a:spcPct val="0"/>
              </a:spcBef>
            </a:pPr>
            <a:r>
              <a:rPr lang="en-US" sz="6399">
                <a:solidFill>
                  <a:srgbClr val="FFFFFF"/>
                </a:solidFill>
                <a:latin typeface="Montserrat"/>
                <a:ea typeface="Montserrat"/>
                <a:cs typeface="Montserrat"/>
                <a:sym typeface="Montserrat"/>
              </a:rPr>
              <a:t>Import Libraries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90E32">
                <a:alpha val="100000"/>
              </a:srgbClr>
            </a:gs>
            <a:gs pos="100000">
              <a:srgbClr val="1B1C4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812046" y="4249258"/>
            <a:ext cx="13071074" cy="5009042"/>
          </a:xfrm>
          <a:custGeom>
            <a:avLst/>
            <a:gdLst/>
            <a:ahLst/>
            <a:cxnLst/>
            <a:rect r="r" b="b" t="t" l="l"/>
            <a:pathLst>
              <a:path h="5009042" w="13071074">
                <a:moveTo>
                  <a:pt x="0" y="0"/>
                </a:moveTo>
                <a:lnTo>
                  <a:pt x="13071074" y="0"/>
                </a:lnTo>
                <a:lnTo>
                  <a:pt x="13071074" y="5009042"/>
                </a:lnTo>
                <a:lnTo>
                  <a:pt x="0" y="5009042"/>
                </a:lnTo>
                <a:lnTo>
                  <a:pt x="0" y="0"/>
                </a:lnTo>
                <a:close/>
              </a:path>
            </a:pathLst>
          </a:custGeom>
          <a:blipFill>
            <a:blip r:embed="rId2"/>
            <a:stretch>
              <a:fillRect l="0" t="-2787" r="0" b="-7463"/>
            </a:stretch>
          </a:blipFill>
        </p:spPr>
      </p:sp>
      <p:sp>
        <p:nvSpPr>
          <p:cNvPr name="TextBox 3" id="3"/>
          <p:cNvSpPr txBox="true"/>
          <p:nvPr/>
        </p:nvSpPr>
        <p:spPr>
          <a:xfrm rot="0">
            <a:off x="5912491" y="242120"/>
            <a:ext cx="6113464" cy="786580"/>
          </a:xfrm>
          <a:prstGeom prst="rect">
            <a:avLst/>
          </a:prstGeom>
        </p:spPr>
        <p:txBody>
          <a:bodyPr anchor="t" rtlCol="false" tIns="0" lIns="0" bIns="0" rIns="0">
            <a:spAutoFit/>
          </a:bodyPr>
          <a:lstStyle/>
          <a:p>
            <a:pPr algn="ctr">
              <a:lnSpc>
                <a:spcPts val="6520"/>
              </a:lnSpc>
              <a:spcBef>
                <a:spcPct val="0"/>
              </a:spcBef>
            </a:pPr>
            <a:r>
              <a:rPr lang="en-US" sz="4657">
                <a:solidFill>
                  <a:srgbClr val="FFFFFF"/>
                </a:solidFill>
                <a:latin typeface="Montserrat"/>
                <a:ea typeface="Montserrat"/>
                <a:cs typeface="Montserrat"/>
                <a:sym typeface="Montserrat"/>
              </a:rPr>
              <a:t>Data Collection</a:t>
            </a:r>
          </a:p>
        </p:txBody>
      </p:sp>
      <p:sp>
        <p:nvSpPr>
          <p:cNvPr name="TextBox 4" id="4"/>
          <p:cNvSpPr txBox="true"/>
          <p:nvPr/>
        </p:nvSpPr>
        <p:spPr>
          <a:xfrm rot="0">
            <a:off x="244437" y="952500"/>
            <a:ext cx="6135587" cy="2904305"/>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1-Use Kaggle.com:https://www.kaggle.com/competitions/autismdiagnosis</a:t>
            </a:r>
          </a:p>
        </p:txBody>
      </p:sp>
      <p:sp>
        <p:nvSpPr>
          <p:cNvPr name="TextBox 5" id="5"/>
          <p:cNvSpPr txBox="true"/>
          <p:nvPr/>
        </p:nvSpPr>
        <p:spPr>
          <a:xfrm rot="0">
            <a:off x="8750178" y="1253706"/>
            <a:ext cx="9055782" cy="290430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2-DownLoad the csv and Read csv by using pandas as pd and Explory Data </a:t>
            </a:r>
          </a:p>
          <a:p>
            <a:pPr algn="ctr">
              <a:lnSpc>
                <a:spcPts val="582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90E32">
                <a:alpha val="100000"/>
              </a:srgbClr>
            </a:gs>
            <a:gs pos="100000">
              <a:srgbClr val="1B1C4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327450" y="1199924"/>
            <a:ext cx="11301259" cy="5099693"/>
          </a:xfrm>
          <a:custGeom>
            <a:avLst/>
            <a:gdLst/>
            <a:ahLst/>
            <a:cxnLst/>
            <a:rect r="r" b="b" t="t" l="l"/>
            <a:pathLst>
              <a:path h="5099693" w="11301259">
                <a:moveTo>
                  <a:pt x="0" y="0"/>
                </a:moveTo>
                <a:lnTo>
                  <a:pt x="11301259" y="0"/>
                </a:lnTo>
                <a:lnTo>
                  <a:pt x="11301259" y="5099693"/>
                </a:lnTo>
                <a:lnTo>
                  <a:pt x="0" y="5099693"/>
                </a:lnTo>
                <a:lnTo>
                  <a:pt x="0" y="0"/>
                </a:lnTo>
                <a:close/>
              </a:path>
            </a:pathLst>
          </a:custGeom>
          <a:blipFill>
            <a:blip r:embed="rId2"/>
            <a:stretch>
              <a:fillRect l="0" t="0" r="0" b="0"/>
            </a:stretch>
          </a:blipFill>
        </p:spPr>
      </p:sp>
      <p:sp>
        <p:nvSpPr>
          <p:cNvPr name="TextBox 3" id="3"/>
          <p:cNvSpPr txBox="true"/>
          <p:nvPr/>
        </p:nvSpPr>
        <p:spPr>
          <a:xfrm rot="0">
            <a:off x="4295330" y="271873"/>
            <a:ext cx="9365500"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Exploratory Data Analysis (EDA)</a:t>
            </a:r>
          </a:p>
          <a:p>
            <a:pPr algn="ctr">
              <a:lnSpc>
                <a:spcPts val="5820"/>
              </a:lnSpc>
              <a:spcBef>
                <a:spcPct val="0"/>
              </a:spcBef>
            </a:pPr>
          </a:p>
        </p:txBody>
      </p:sp>
      <p:sp>
        <p:nvSpPr>
          <p:cNvPr name="TextBox 4" id="4"/>
          <p:cNvSpPr txBox="true"/>
          <p:nvPr/>
        </p:nvSpPr>
        <p:spPr>
          <a:xfrm rot="0">
            <a:off x="1028700" y="6223417"/>
            <a:ext cx="16422638" cy="43711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The distribution between males and females is similar, but the response rate with ASD varies by gender.</a:t>
            </a:r>
          </a:p>
          <a:p>
            <a:pPr algn="ctr">
              <a:lnSpc>
                <a:spcPts val="5820"/>
              </a:lnSpc>
            </a:pPr>
          </a:p>
          <a:p>
            <a:pPr algn="ctr">
              <a:lnSpc>
                <a:spcPts val="5820"/>
              </a:lnSpc>
            </a:pPr>
            <a:r>
              <a:rPr lang="en-US" sz="4157">
                <a:solidFill>
                  <a:srgbClr val="FFFFFF"/>
                </a:solidFill>
                <a:latin typeface="Montserrat"/>
                <a:ea typeface="Montserrat"/>
                <a:cs typeface="Montserrat"/>
                <a:sym typeface="Montserrat"/>
              </a:rPr>
              <a:t>The ASD category is unevenly distributed → There is a possibility of an imbalance problem.</a:t>
            </a:r>
          </a:p>
          <a:p>
            <a:pPr algn="ctr">
              <a:lnSpc>
                <a:spcPts val="582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90E32">
                <a:alpha val="100000"/>
              </a:srgbClr>
            </a:gs>
            <a:gs pos="100000">
              <a:srgbClr val="1B1C4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9346865" y="1291636"/>
            <a:ext cx="8627929" cy="6332121"/>
          </a:xfrm>
          <a:custGeom>
            <a:avLst/>
            <a:gdLst/>
            <a:ahLst/>
            <a:cxnLst/>
            <a:rect r="r" b="b" t="t" l="l"/>
            <a:pathLst>
              <a:path h="6332121" w="8627929">
                <a:moveTo>
                  <a:pt x="0" y="0"/>
                </a:moveTo>
                <a:lnTo>
                  <a:pt x="8627929" y="0"/>
                </a:lnTo>
                <a:lnTo>
                  <a:pt x="8627929" y="6332121"/>
                </a:lnTo>
                <a:lnTo>
                  <a:pt x="0" y="6332121"/>
                </a:lnTo>
                <a:lnTo>
                  <a:pt x="0" y="0"/>
                </a:lnTo>
                <a:close/>
              </a:path>
            </a:pathLst>
          </a:custGeom>
          <a:blipFill>
            <a:blip r:embed="rId2"/>
            <a:stretch>
              <a:fillRect l="-4163" t="0" r="-4163" b="0"/>
            </a:stretch>
          </a:blipFill>
        </p:spPr>
      </p:sp>
      <p:sp>
        <p:nvSpPr>
          <p:cNvPr name="TextBox 3" id="3"/>
          <p:cNvSpPr txBox="true"/>
          <p:nvPr/>
        </p:nvSpPr>
        <p:spPr>
          <a:xfrm rot="0">
            <a:off x="4295330" y="271873"/>
            <a:ext cx="9365500"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Exploratory Data Analysis (EDA)</a:t>
            </a:r>
          </a:p>
          <a:p>
            <a:pPr algn="ctr">
              <a:lnSpc>
                <a:spcPts val="5820"/>
              </a:lnSpc>
              <a:spcBef>
                <a:spcPct val="0"/>
              </a:spcBef>
            </a:pPr>
          </a:p>
        </p:txBody>
      </p:sp>
      <p:sp>
        <p:nvSpPr>
          <p:cNvPr name="TextBox 4" id="4"/>
          <p:cNvSpPr txBox="true"/>
          <p:nvPr/>
        </p:nvSpPr>
        <p:spPr>
          <a:xfrm rot="0">
            <a:off x="601690" y="2053458"/>
            <a:ext cx="8376389" cy="4287732"/>
          </a:xfrm>
          <a:prstGeom prst="rect">
            <a:avLst/>
          </a:prstGeom>
        </p:spPr>
        <p:txBody>
          <a:bodyPr anchor="t" rtlCol="false" tIns="0" lIns="0" bIns="0" rIns="0">
            <a:spAutoFit/>
          </a:bodyPr>
          <a:lstStyle/>
          <a:p>
            <a:pPr algn="ctr">
              <a:lnSpc>
                <a:spcPts val="5707"/>
              </a:lnSpc>
              <a:spcBef>
                <a:spcPct val="0"/>
              </a:spcBef>
            </a:pPr>
          </a:p>
          <a:p>
            <a:pPr algn="ctr">
              <a:lnSpc>
                <a:spcPts val="5707"/>
              </a:lnSpc>
              <a:spcBef>
                <a:spcPct val="0"/>
              </a:spcBef>
            </a:pPr>
            <a:r>
              <a:rPr lang="en-US" sz="4076">
                <a:solidFill>
                  <a:srgbClr val="FFFFFF"/>
                </a:solidFill>
                <a:latin typeface="Montserrat"/>
                <a:ea typeface="Montserrat"/>
                <a:cs typeface="Montserrat"/>
                <a:sym typeface="Montserrat"/>
              </a:rPr>
              <a:t>Most cases occur in the young age group (10–20 years).</a:t>
            </a:r>
          </a:p>
          <a:p>
            <a:pPr algn="ctr">
              <a:lnSpc>
                <a:spcPts val="5707"/>
              </a:lnSpc>
              <a:spcBef>
                <a:spcPct val="0"/>
              </a:spcBef>
            </a:pPr>
          </a:p>
          <a:p>
            <a:pPr algn="ctr">
              <a:lnSpc>
                <a:spcPts val="5707"/>
              </a:lnSpc>
              <a:spcBef>
                <a:spcPct val="0"/>
              </a:spcBef>
            </a:pPr>
            <a:r>
              <a:rPr lang="en-US" sz="4076">
                <a:solidFill>
                  <a:srgbClr val="FFFFFF"/>
                </a:solidFill>
                <a:latin typeface="Montserrat"/>
                <a:ea typeface="Montserrat"/>
                <a:cs typeface="Montserrat"/>
                <a:sym typeface="Montserrat"/>
              </a:rPr>
              <a:t>Age may still be an important prognostic feature.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90E32">
                <a:alpha val="100000"/>
              </a:srgbClr>
            </a:gs>
            <a:gs pos="100000">
              <a:srgbClr val="1B1C4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780966" y="1201924"/>
            <a:ext cx="11301259" cy="4498381"/>
          </a:xfrm>
          <a:custGeom>
            <a:avLst/>
            <a:gdLst/>
            <a:ahLst/>
            <a:cxnLst/>
            <a:rect r="r" b="b" t="t" l="l"/>
            <a:pathLst>
              <a:path h="4498381" w="11301259">
                <a:moveTo>
                  <a:pt x="0" y="0"/>
                </a:moveTo>
                <a:lnTo>
                  <a:pt x="11301258" y="0"/>
                </a:lnTo>
                <a:lnTo>
                  <a:pt x="11301258" y="4498381"/>
                </a:lnTo>
                <a:lnTo>
                  <a:pt x="0" y="4498381"/>
                </a:lnTo>
                <a:lnTo>
                  <a:pt x="0" y="0"/>
                </a:lnTo>
                <a:close/>
              </a:path>
            </a:pathLst>
          </a:custGeom>
          <a:blipFill>
            <a:blip r:embed="rId2"/>
            <a:stretch>
              <a:fillRect l="0" t="0" r="0" b="-491"/>
            </a:stretch>
          </a:blipFill>
        </p:spPr>
      </p:sp>
      <p:sp>
        <p:nvSpPr>
          <p:cNvPr name="TextBox 3" id="3"/>
          <p:cNvSpPr txBox="true"/>
          <p:nvPr/>
        </p:nvSpPr>
        <p:spPr>
          <a:xfrm rot="0">
            <a:off x="4295330" y="271873"/>
            <a:ext cx="9365500"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Exploratory Data Analysis (EDA)</a:t>
            </a:r>
          </a:p>
          <a:p>
            <a:pPr algn="ctr">
              <a:lnSpc>
                <a:spcPts val="5820"/>
              </a:lnSpc>
              <a:spcBef>
                <a:spcPct val="0"/>
              </a:spcBef>
            </a:pPr>
          </a:p>
        </p:txBody>
      </p:sp>
      <p:sp>
        <p:nvSpPr>
          <p:cNvPr name="TextBox 4" id="4"/>
          <p:cNvSpPr txBox="true"/>
          <p:nvPr/>
        </p:nvSpPr>
        <p:spPr>
          <a:xfrm rot="0">
            <a:off x="1028700" y="6267101"/>
            <a:ext cx="16230600" cy="1437455"/>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Insight : The dataset is slightly imbalanced in gender distribution, with more males than females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90E32">
                <a:alpha val="100000"/>
              </a:srgbClr>
            </a:gs>
            <a:gs pos="100000">
              <a:srgbClr val="1B1C4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684794" y="1244751"/>
            <a:ext cx="16918413" cy="4562883"/>
          </a:xfrm>
          <a:custGeom>
            <a:avLst/>
            <a:gdLst/>
            <a:ahLst/>
            <a:cxnLst/>
            <a:rect r="r" b="b" t="t" l="l"/>
            <a:pathLst>
              <a:path h="4562883" w="16918413">
                <a:moveTo>
                  <a:pt x="0" y="0"/>
                </a:moveTo>
                <a:lnTo>
                  <a:pt x="16918412" y="0"/>
                </a:lnTo>
                <a:lnTo>
                  <a:pt x="16918412" y="4562883"/>
                </a:lnTo>
                <a:lnTo>
                  <a:pt x="0" y="4562883"/>
                </a:lnTo>
                <a:lnTo>
                  <a:pt x="0" y="0"/>
                </a:lnTo>
                <a:close/>
              </a:path>
            </a:pathLst>
          </a:custGeom>
          <a:blipFill>
            <a:blip r:embed="rId2"/>
            <a:stretch>
              <a:fillRect l="0" t="-24851" r="0" b="-24851"/>
            </a:stretch>
          </a:blipFill>
        </p:spPr>
      </p:sp>
      <p:sp>
        <p:nvSpPr>
          <p:cNvPr name="TextBox 3" id="3"/>
          <p:cNvSpPr txBox="true"/>
          <p:nvPr/>
        </p:nvSpPr>
        <p:spPr>
          <a:xfrm rot="0">
            <a:off x="4295330" y="271873"/>
            <a:ext cx="9365500"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Exploratory Data Analysis (EDA)</a:t>
            </a:r>
          </a:p>
          <a:p>
            <a:pPr algn="ctr">
              <a:lnSpc>
                <a:spcPts val="5820"/>
              </a:lnSpc>
              <a:spcBef>
                <a:spcPct val="0"/>
              </a:spcBef>
            </a:pPr>
          </a:p>
        </p:txBody>
      </p:sp>
      <p:sp>
        <p:nvSpPr>
          <p:cNvPr name="TextBox 4" id="4"/>
          <p:cNvSpPr txBox="true"/>
          <p:nvPr/>
        </p:nvSpPr>
        <p:spPr>
          <a:xfrm rot="0">
            <a:off x="1946827" y="6086339"/>
            <a:ext cx="14810445" cy="3471294"/>
          </a:xfrm>
          <a:prstGeom prst="rect">
            <a:avLst/>
          </a:prstGeom>
        </p:spPr>
        <p:txBody>
          <a:bodyPr anchor="t" rtlCol="false" tIns="0" lIns="0" bIns="0" rIns="0">
            <a:spAutoFit/>
          </a:bodyPr>
          <a:lstStyle/>
          <a:p>
            <a:pPr algn="ctr">
              <a:lnSpc>
                <a:spcPts val="3961"/>
              </a:lnSpc>
            </a:pPr>
            <a:r>
              <a:rPr lang="en-US" sz="2829">
                <a:solidFill>
                  <a:srgbClr val="FFFFFF"/>
                </a:solidFill>
                <a:latin typeface="Montserrat"/>
                <a:ea typeface="Montserrat"/>
                <a:cs typeface="Montserrat"/>
                <a:sym typeface="Montserrat"/>
              </a:rPr>
              <a:t>The choropleth map reveals notable disparities in the reported prevalence of Autism Spectrum Disorder (ASD) across countries. Darker shades indicate higher concentrations of cases, which may reflect differences in diagnostic practices, healthcare infrastructure, or public awareness.</a:t>
            </a:r>
          </a:p>
          <a:p>
            <a:pPr algn="ctr">
              <a:lnSpc>
                <a:spcPts val="3976"/>
              </a:lnSpc>
              <a:spcBef>
                <a:spcPct val="0"/>
              </a:spcBef>
            </a:pPr>
            <a:r>
              <a:rPr lang="en-US" sz="2840">
                <a:solidFill>
                  <a:srgbClr val="FFFFFF"/>
                </a:solidFill>
                <a:latin typeface="Montserrat"/>
                <a:ea typeface="Montserrat"/>
                <a:cs typeface="Montserrat"/>
                <a:sym typeface="Montserrat"/>
              </a:rPr>
              <a:t>Countries with elevated ASD rates might benefit from further investigation into environmental, genetic, and social factors, while regions with lower reported cases could indicate underdiagnosis or limited access to screening services.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2763322" y="714785"/>
            <a:ext cx="13358669" cy="4506377"/>
          </a:xfrm>
          <a:custGeom>
            <a:avLst/>
            <a:gdLst/>
            <a:ahLst/>
            <a:cxnLst/>
            <a:rect r="r" b="b" t="t" l="l"/>
            <a:pathLst>
              <a:path h="4506377" w="13358669">
                <a:moveTo>
                  <a:pt x="0" y="0"/>
                </a:moveTo>
                <a:lnTo>
                  <a:pt x="13358669" y="0"/>
                </a:lnTo>
                <a:lnTo>
                  <a:pt x="13358669" y="4506377"/>
                </a:lnTo>
                <a:lnTo>
                  <a:pt x="0" y="4506377"/>
                </a:lnTo>
                <a:lnTo>
                  <a:pt x="0" y="0"/>
                </a:lnTo>
                <a:close/>
              </a:path>
            </a:pathLst>
          </a:custGeom>
          <a:blipFill>
            <a:blip r:embed="rId2"/>
            <a:stretch>
              <a:fillRect l="0" t="-9102" r="0" b="-9102"/>
            </a:stretch>
          </a:blipFill>
        </p:spPr>
      </p:sp>
      <p:sp>
        <p:nvSpPr>
          <p:cNvPr name="TextBox 3" id="3"/>
          <p:cNvSpPr txBox="true"/>
          <p:nvPr/>
        </p:nvSpPr>
        <p:spPr>
          <a:xfrm rot="0">
            <a:off x="4162594" y="-76200"/>
            <a:ext cx="9365500"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Exploratory Data Analysis (EDA)</a:t>
            </a:r>
          </a:p>
          <a:p>
            <a:pPr algn="ctr">
              <a:lnSpc>
                <a:spcPts val="5820"/>
              </a:lnSpc>
              <a:spcBef>
                <a:spcPct val="0"/>
              </a:spcBef>
            </a:pPr>
          </a:p>
        </p:txBody>
      </p:sp>
      <p:sp>
        <p:nvSpPr>
          <p:cNvPr name="TextBox 4" id="4"/>
          <p:cNvSpPr txBox="true"/>
          <p:nvPr/>
        </p:nvSpPr>
        <p:spPr>
          <a:xfrm rot="0">
            <a:off x="158387" y="6208128"/>
            <a:ext cx="13967020" cy="3938905"/>
          </a:xfrm>
          <a:prstGeom prst="rect">
            <a:avLst/>
          </a:prstGeom>
        </p:spPr>
        <p:txBody>
          <a:bodyPr anchor="t" rtlCol="false" tIns="0" lIns="0" bIns="0" rIns="0">
            <a:spAutoFit/>
          </a:bodyPr>
          <a:lstStyle/>
          <a:p>
            <a:pPr algn="ctr">
              <a:lnSpc>
                <a:spcPts val="3919"/>
              </a:lnSpc>
            </a:pPr>
            <a:r>
              <a:rPr lang="en-US" sz="2799">
                <a:solidFill>
                  <a:srgbClr val="FFFFFF"/>
                </a:solidFill>
                <a:latin typeface="Montserrat"/>
                <a:ea typeface="Montserrat"/>
                <a:cs typeface="Montserrat"/>
                <a:sym typeface="Montserrat"/>
              </a:rPr>
              <a:t>The radar chart illustrates distinct patterns in average screening scores between individuals diagnosed with ASD and those without.</a:t>
            </a:r>
          </a:p>
          <a:p>
            <a:pPr algn="ctr">
              <a:lnSpc>
                <a:spcPts val="3919"/>
              </a:lnSpc>
            </a:pPr>
            <a:r>
              <a:rPr lang="en-US" sz="2799">
                <a:solidFill>
                  <a:srgbClr val="FFFFFF"/>
                </a:solidFill>
                <a:latin typeface="Montserrat"/>
                <a:ea typeface="Montserrat"/>
                <a:cs typeface="Montserrat"/>
                <a:sym typeface="Montserrat"/>
              </a:rPr>
              <a:t>ASD cases tend to show elevated scores in specific dimensions—such as [insert key score names]—highlighting consistent behavioral or cognitive markers across the dataset.</a:t>
            </a:r>
          </a:p>
          <a:p>
            <a:pPr algn="ctr">
              <a:lnSpc>
                <a:spcPts val="3919"/>
              </a:lnSpc>
              <a:spcBef>
                <a:spcPct val="0"/>
              </a:spcBef>
            </a:pPr>
            <a:r>
              <a:rPr lang="en-US" sz="2799">
                <a:solidFill>
                  <a:srgbClr val="FFFFFF"/>
                </a:solidFill>
                <a:latin typeface="Montserrat"/>
                <a:ea typeface="Montserrat"/>
                <a:cs typeface="Montserrat"/>
                <a:sym typeface="Montserrat"/>
              </a:rPr>
              <a:t>This visualization helps pinpoint which screening features contribute most to classification, offering valuable guidance for early detection and targeted interventions.</a:t>
            </a:r>
          </a:p>
        </p:txBody>
      </p:sp>
      <p:sp>
        <p:nvSpPr>
          <p:cNvPr name="TextBox 5" id="5"/>
          <p:cNvSpPr txBox="true"/>
          <p:nvPr/>
        </p:nvSpPr>
        <p:spPr>
          <a:xfrm rot="0">
            <a:off x="-1987514" y="5498925"/>
            <a:ext cx="7241722"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Insight:</a:t>
            </a:r>
          </a:p>
          <a:p>
            <a:pPr algn="ctr">
              <a:lnSpc>
                <a:spcPts val="582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2055396" y="680627"/>
            <a:ext cx="14731664" cy="4920646"/>
          </a:xfrm>
          <a:custGeom>
            <a:avLst/>
            <a:gdLst/>
            <a:ahLst/>
            <a:cxnLst/>
            <a:rect r="r" b="b" t="t" l="l"/>
            <a:pathLst>
              <a:path h="4920646" w="14731664">
                <a:moveTo>
                  <a:pt x="0" y="0"/>
                </a:moveTo>
                <a:lnTo>
                  <a:pt x="14731664" y="0"/>
                </a:lnTo>
                <a:lnTo>
                  <a:pt x="14731664" y="4920647"/>
                </a:lnTo>
                <a:lnTo>
                  <a:pt x="0" y="4920647"/>
                </a:lnTo>
                <a:lnTo>
                  <a:pt x="0" y="0"/>
                </a:lnTo>
                <a:close/>
              </a:path>
            </a:pathLst>
          </a:custGeom>
          <a:blipFill>
            <a:blip r:embed="rId2"/>
            <a:stretch>
              <a:fillRect l="0" t="-9689" r="0" b="-9689"/>
            </a:stretch>
          </a:blipFill>
        </p:spPr>
      </p:sp>
      <p:sp>
        <p:nvSpPr>
          <p:cNvPr name="TextBox 3" id="3"/>
          <p:cNvSpPr txBox="true"/>
          <p:nvPr/>
        </p:nvSpPr>
        <p:spPr>
          <a:xfrm rot="0">
            <a:off x="4251085" y="-76200"/>
            <a:ext cx="9365500"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Exploratory Data Analysis (EDA)</a:t>
            </a:r>
          </a:p>
          <a:p>
            <a:pPr algn="ctr">
              <a:lnSpc>
                <a:spcPts val="5820"/>
              </a:lnSpc>
              <a:spcBef>
                <a:spcPct val="0"/>
              </a:spcBef>
            </a:pPr>
          </a:p>
        </p:txBody>
      </p:sp>
      <p:sp>
        <p:nvSpPr>
          <p:cNvPr name="TextBox 4" id="4"/>
          <p:cNvSpPr txBox="true"/>
          <p:nvPr/>
        </p:nvSpPr>
        <p:spPr>
          <a:xfrm rot="0">
            <a:off x="0" y="6995798"/>
            <a:ext cx="18288000" cy="2948305"/>
          </a:xfrm>
          <a:prstGeom prst="rect">
            <a:avLst/>
          </a:prstGeom>
        </p:spPr>
        <p:txBody>
          <a:bodyPr anchor="t" rtlCol="false" tIns="0" lIns="0" bIns="0" rIns="0">
            <a:spAutoFit/>
          </a:bodyPr>
          <a:lstStyle/>
          <a:p>
            <a:pPr algn="ctr">
              <a:lnSpc>
                <a:spcPts val="3919"/>
              </a:lnSpc>
            </a:pPr>
            <a:r>
              <a:rPr lang="en-US" sz="2799">
                <a:solidFill>
                  <a:srgbClr val="FFFFFF"/>
                </a:solidFill>
                <a:latin typeface="Montserrat"/>
                <a:ea typeface="Montserrat"/>
                <a:cs typeface="Montserrat"/>
                <a:sym typeface="Montserrat"/>
              </a:rPr>
              <a:t>The sunburst chart provides a layered view of ASD distribution across gender and ethnicity.</a:t>
            </a:r>
          </a:p>
          <a:p>
            <a:pPr algn="ctr">
              <a:lnSpc>
                <a:spcPts val="3919"/>
              </a:lnSpc>
            </a:pPr>
            <a:r>
              <a:rPr lang="en-US" sz="2799">
                <a:solidFill>
                  <a:srgbClr val="FFFFFF"/>
                </a:solidFill>
                <a:latin typeface="Montserrat"/>
                <a:ea typeface="Montserrat"/>
                <a:cs typeface="Montserrat"/>
                <a:sym typeface="Montserrat"/>
              </a:rPr>
              <a:t>It reveals how certain demographic groups—such as [e.g., males of ethnicity X]—may have higher representation in ASD diagnoses, suggesting potential cultural, genetic, or systemic factors influencing detection rates.</a:t>
            </a:r>
          </a:p>
          <a:p>
            <a:pPr algn="ctr">
              <a:lnSpc>
                <a:spcPts val="3919"/>
              </a:lnSpc>
              <a:spcBef>
                <a:spcPct val="0"/>
              </a:spcBef>
            </a:pPr>
            <a:r>
              <a:rPr lang="en-US" sz="2799">
                <a:solidFill>
                  <a:srgbClr val="FFFFFF"/>
                </a:solidFill>
                <a:latin typeface="Montserrat"/>
                <a:ea typeface="Montserrat"/>
                <a:cs typeface="Montserrat"/>
                <a:sym typeface="Montserrat"/>
              </a:rPr>
              <a:t>This hierarchical breakdown helps uncover intersectional patterns that might be overlooked in flat visualizations, offering a more nuanced understanding of ASD prevalence.</a:t>
            </a:r>
          </a:p>
        </p:txBody>
      </p:sp>
      <p:sp>
        <p:nvSpPr>
          <p:cNvPr name="TextBox 5" id="5"/>
          <p:cNvSpPr txBox="true"/>
          <p:nvPr/>
        </p:nvSpPr>
        <p:spPr>
          <a:xfrm rot="0">
            <a:off x="4914765" y="5801602"/>
            <a:ext cx="7241722"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Insight:</a:t>
            </a:r>
          </a:p>
          <a:p>
            <a:pPr algn="ctr">
              <a:lnSpc>
                <a:spcPts val="582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2584371" y="324670"/>
            <a:ext cx="13119259"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Data Preprocessing Workflow for ASD Projects</a:t>
            </a:r>
          </a:p>
        </p:txBody>
      </p:sp>
      <p:sp>
        <p:nvSpPr>
          <p:cNvPr name="TextBox 3" id="3"/>
          <p:cNvSpPr txBox="true"/>
          <p:nvPr/>
        </p:nvSpPr>
        <p:spPr>
          <a:xfrm rot="0">
            <a:off x="-1196760" y="1523472"/>
            <a:ext cx="5350496" cy="1437455"/>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a:t>
            </a:r>
            <a:r>
              <a:rPr lang="en-US" sz="4157">
                <a:solidFill>
                  <a:srgbClr val="FFFFFF"/>
                </a:solidFill>
                <a:latin typeface="Montserrat"/>
                <a:ea typeface="Montserrat"/>
                <a:cs typeface="Montserrat"/>
                <a:sym typeface="Montserrat"/>
              </a:rPr>
              <a:t> Cleaning:</a:t>
            </a:r>
          </a:p>
          <a:p>
            <a:pPr algn="ctr">
              <a:lnSpc>
                <a:spcPts val="5820"/>
              </a:lnSpc>
              <a:spcBef>
                <a:spcPct val="0"/>
              </a:spcBef>
            </a:pPr>
          </a:p>
        </p:txBody>
      </p:sp>
      <p:sp>
        <p:nvSpPr>
          <p:cNvPr name="TextBox 4" id="4"/>
          <p:cNvSpPr txBox="true"/>
          <p:nvPr/>
        </p:nvSpPr>
        <p:spPr>
          <a:xfrm rot="0">
            <a:off x="-333975" y="2329273"/>
            <a:ext cx="8123500" cy="217088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1-</a:t>
            </a:r>
            <a:r>
              <a:rPr lang="en-US" sz="4157">
                <a:solidFill>
                  <a:srgbClr val="FFFFFF"/>
                </a:solidFill>
                <a:latin typeface="Montserrat"/>
                <a:ea typeface="Montserrat"/>
                <a:cs typeface="Montserrat"/>
                <a:sym typeface="Montserrat"/>
              </a:rPr>
              <a:t>Handle missing values: Use Fillna() or Dropna(),or imputation techniques.</a:t>
            </a:r>
          </a:p>
        </p:txBody>
      </p:sp>
      <p:sp>
        <p:nvSpPr>
          <p:cNvPr name="TextBox 5" id="5"/>
          <p:cNvSpPr txBox="true"/>
          <p:nvPr/>
        </p:nvSpPr>
        <p:spPr>
          <a:xfrm rot="0">
            <a:off x="6950053" y="1701443"/>
            <a:ext cx="11555646"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2. Feature Engineering</a:t>
            </a:r>
          </a:p>
        </p:txBody>
      </p:sp>
      <p:sp>
        <p:nvSpPr>
          <p:cNvPr name="TextBox 6" id="6"/>
          <p:cNvSpPr txBox="true"/>
          <p:nvPr/>
        </p:nvSpPr>
        <p:spPr>
          <a:xfrm rot="0">
            <a:off x="8115933" y="2528377"/>
            <a:ext cx="9917292" cy="217088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C</a:t>
            </a:r>
            <a:r>
              <a:rPr lang="en-US" sz="4157">
                <a:solidFill>
                  <a:srgbClr val="FFFFFF"/>
                </a:solidFill>
                <a:latin typeface="Montserrat"/>
                <a:ea typeface="Montserrat"/>
                <a:cs typeface="Montserrat"/>
                <a:sym typeface="Montserrat"/>
              </a:rPr>
              <a:t>onvert categorical to numerical:LabelEncoder() ,OnehotEncoder()</a:t>
            </a:r>
          </a:p>
        </p:txBody>
      </p:sp>
      <p:sp>
        <p:nvSpPr>
          <p:cNvPr name="TextBox 7" id="7"/>
          <p:cNvSpPr txBox="true"/>
          <p:nvPr/>
        </p:nvSpPr>
        <p:spPr>
          <a:xfrm rot="0">
            <a:off x="6331291" y="6004181"/>
            <a:ext cx="4430792"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3</a:t>
            </a:r>
            <a:r>
              <a:rPr lang="en-US" sz="4157">
                <a:solidFill>
                  <a:srgbClr val="FFFFFF"/>
                </a:solidFill>
                <a:latin typeface="Montserrat"/>
                <a:ea typeface="Montserrat"/>
                <a:cs typeface="Montserrat"/>
                <a:sym typeface="Montserrat"/>
              </a:rPr>
              <a:t>. Train-Test Split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2542117" y="2006353"/>
            <a:ext cx="14575374" cy="6274293"/>
          </a:xfrm>
          <a:custGeom>
            <a:avLst/>
            <a:gdLst/>
            <a:ahLst/>
            <a:cxnLst/>
            <a:rect r="r" b="b" t="t" l="l"/>
            <a:pathLst>
              <a:path h="6274293" w="14575374">
                <a:moveTo>
                  <a:pt x="0" y="0"/>
                </a:moveTo>
                <a:lnTo>
                  <a:pt x="14575373" y="0"/>
                </a:lnTo>
                <a:lnTo>
                  <a:pt x="14575373" y="6274294"/>
                </a:lnTo>
                <a:lnTo>
                  <a:pt x="0" y="6274294"/>
                </a:lnTo>
                <a:lnTo>
                  <a:pt x="0" y="0"/>
                </a:lnTo>
                <a:close/>
              </a:path>
            </a:pathLst>
          </a:custGeom>
          <a:blipFill>
            <a:blip r:embed="rId2"/>
            <a:stretch>
              <a:fillRect l="-477" t="0" r="-477" b="-2603"/>
            </a:stretch>
          </a:blipFill>
        </p:spPr>
      </p:sp>
      <p:sp>
        <p:nvSpPr>
          <p:cNvPr name="TextBox 3" id="3"/>
          <p:cNvSpPr txBox="true"/>
          <p:nvPr/>
        </p:nvSpPr>
        <p:spPr>
          <a:xfrm rot="0">
            <a:off x="4918157" y="322415"/>
            <a:ext cx="6991588" cy="953135"/>
          </a:xfrm>
          <a:prstGeom prst="rect">
            <a:avLst/>
          </a:prstGeom>
        </p:spPr>
        <p:txBody>
          <a:bodyPr anchor="t" rtlCol="false" tIns="0" lIns="0" bIns="0" rIns="0">
            <a:spAutoFit/>
          </a:bodyPr>
          <a:lstStyle/>
          <a:p>
            <a:pPr algn="ctr">
              <a:lnSpc>
                <a:spcPts val="7840"/>
              </a:lnSpc>
              <a:spcBef>
                <a:spcPct val="0"/>
              </a:spcBef>
            </a:pPr>
            <a:r>
              <a:rPr lang="en-US" sz="5600">
                <a:solidFill>
                  <a:srgbClr val="FFFFFF"/>
                </a:solidFill>
                <a:latin typeface="Montserrat"/>
                <a:ea typeface="Montserrat"/>
                <a:cs typeface="Montserrat"/>
                <a:sym typeface="Montserrat"/>
              </a:rPr>
              <a:t>🛠 Example Snippet</a:t>
            </a:r>
          </a:p>
        </p:txBody>
      </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5268319" y="324670"/>
            <a:ext cx="7436763"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Machine Learning Model</a:t>
            </a:r>
          </a:p>
        </p:txBody>
      </p:sp>
      <p:sp>
        <p:nvSpPr>
          <p:cNvPr name="TextBox 3" id="3"/>
          <p:cNvSpPr txBox="true"/>
          <p:nvPr/>
        </p:nvSpPr>
        <p:spPr>
          <a:xfrm rot="0">
            <a:off x="-66743" y="1371407"/>
            <a:ext cx="11570231"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-RandomForestClassifier(random_state=42)</a:t>
            </a:r>
          </a:p>
          <a:p>
            <a:pPr algn="ctr">
              <a:lnSpc>
                <a:spcPts val="5820"/>
              </a:lnSpc>
              <a:spcBef>
                <a:spcPct val="0"/>
              </a:spcBef>
            </a:pPr>
          </a:p>
        </p:txBody>
      </p:sp>
      <p:sp>
        <p:nvSpPr>
          <p:cNvPr name="TextBox 4" id="4"/>
          <p:cNvSpPr txBox="true"/>
          <p:nvPr/>
        </p:nvSpPr>
        <p:spPr>
          <a:xfrm rot="0">
            <a:off x="-644515" y="3151761"/>
            <a:ext cx="13525002"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-GradientBoostingClassifier(random_state=42)</a:t>
            </a:r>
          </a:p>
          <a:p>
            <a:pPr algn="ctr">
              <a:lnSpc>
                <a:spcPts val="5820"/>
              </a:lnSpc>
              <a:spcBef>
                <a:spcPct val="0"/>
              </a:spcBef>
            </a:pPr>
          </a:p>
        </p:txBody>
      </p:sp>
      <p:sp>
        <p:nvSpPr>
          <p:cNvPr name="TextBox 5" id="5"/>
          <p:cNvSpPr txBox="true"/>
          <p:nvPr/>
        </p:nvSpPr>
        <p:spPr>
          <a:xfrm rot="0">
            <a:off x="-323448" y="4932116"/>
            <a:ext cx="14763188"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-LogisticRegression(random_state=42, max_iter=50)</a:t>
            </a:r>
          </a:p>
          <a:p>
            <a:pPr algn="ctr">
              <a:lnSpc>
                <a:spcPts val="5820"/>
              </a:lnSpc>
              <a:spcBef>
                <a:spcPct val="0"/>
              </a:spcBef>
            </a:pPr>
          </a:p>
        </p:txBody>
      </p:sp>
      <p:sp>
        <p:nvSpPr>
          <p:cNvPr name="TextBox 6" id="6"/>
          <p:cNvSpPr txBox="true"/>
          <p:nvPr/>
        </p:nvSpPr>
        <p:spPr>
          <a:xfrm rot="0">
            <a:off x="-1861484" y="8043748"/>
            <a:ext cx="10586020"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SVC(probability=True)</a:t>
            </a:r>
          </a:p>
          <a:p>
            <a:pPr algn="ctr">
              <a:lnSpc>
                <a:spcPts val="5820"/>
              </a:lnSpc>
              <a:spcBef>
                <a:spcPct val="0"/>
              </a:spcBef>
            </a:pPr>
          </a:p>
        </p:txBody>
      </p:sp>
      <p:sp>
        <p:nvSpPr>
          <p:cNvPr name="TextBox 7" id="7"/>
          <p:cNvSpPr txBox="true"/>
          <p:nvPr/>
        </p:nvSpPr>
        <p:spPr>
          <a:xfrm rot="0">
            <a:off x="-66743" y="6547777"/>
            <a:ext cx="16825555"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-XGBClassifier(use_label_encoder=False, eval_metric="logloss")</a:t>
            </a:r>
          </a:p>
          <a:p>
            <a:pPr algn="ctr">
              <a:lnSpc>
                <a:spcPts val="582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42884" y="2320488"/>
            <a:ext cx="5558116" cy="5732350"/>
          </a:xfrm>
          <a:custGeom>
            <a:avLst/>
            <a:gdLst/>
            <a:ahLst/>
            <a:cxnLst/>
            <a:rect r="r" b="b" t="t" l="l"/>
            <a:pathLst>
              <a:path h="5732350" w="5558116">
                <a:moveTo>
                  <a:pt x="0" y="0"/>
                </a:moveTo>
                <a:lnTo>
                  <a:pt x="5558117" y="0"/>
                </a:lnTo>
                <a:lnTo>
                  <a:pt x="5558117" y="5732351"/>
                </a:lnTo>
                <a:lnTo>
                  <a:pt x="0" y="5732351"/>
                </a:lnTo>
                <a:lnTo>
                  <a:pt x="0" y="0"/>
                </a:lnTo>
                <a:close/>
              </a:path>
            </a:pathLst>
          </a:custGeom>
          <a:blipFill>
            <a:blip r:embed="rId2"/>
            <a:stretch>
              <a:fillRect l="-774" t="0" r="-774" b="0"/>
            </a:stretch>
          </a:blipFill>
        </p:spPr>
      </p:sp>
      <p:sp>
        <p:nvSpPr>
          <p:cNvPr name="Freeform 3" id="3"/>
          <p:cNvSpPr/>
          <p:nvPr/>
        </p:nvSpPr>
        <p:spPr>
          <a:xfrm flipH="false" flipV="false" rot="0">
            <a:off x="5773644" y="2347236"/>
            <a:ext cx="5595336" cy="5732350"/>
          </a:xfrm>
          <a:custGeom>
            <a:avLst/>
            <a:gdLst/>
            <a:ahLst/>
            <a:cxnLst/>
            <a:rect r="r" b="b" t="t" l="l"/>
            <a:pathLst>
              <a:path h="5732350" w="5595336">
                <a:moveTo>
                  <a:pt x="0" y="0"/>
                </a:moveTo>
                <a:lnTo>
                  <a:pt x="5595336" y="0"/>
                </a:lnTo>
                <a:lnTo>
                  <a:pt x="5595336" y="5732350"/>
                </a:lnTo>
                <a:lnTo>
                  <a:pt x="0" y="5732350"/>
                </a:lnTo>
                <a:lnTo>
                  <a:pt x="0" y="0"/>
                </a:lnTo>
                <a:close/>
              </a:path>
            </a:pathLst>
          </a:custGeom>
          <a:blipFill>
            <a:blip r:embed="rId3"/>
            <a:stretch>
              <a:fillRect l="-774" t="0" r="-774" b="0"/>
            </a:stretch>
          </a:blipFill>
        </p:spPr>
      </p:sp>
      <p:sp>
        <p:nvSpPr>
          <p:cNvPr name="Freeform 4" id="4"/>
          <p:cNvSpPr/>
          <p:nvPr/>
        </p:nvSpPr>
        <p:spPr>
          <a:xfrm flipH="false" flipV="false" rot="0">
            <a:off x="11441623" y="2321019"/>
            <a:ext cx="7034491" cy="5644962"/>
          </a:xfrm>
          <a:custGeom>
            <a:avLst/>
            <a:gdLst/>
            <a:ahLst/>
            <a:cxnLst/>
            <a:rect r="r" b="b" t="t" l="l"/>
            <a:pathLst>
              <a:path h="5644962" w="7034491">
                <a:moveTo>
                  <a:pt x="0" y="0"/>
                </a:moveTo>
                <a:lnTo>
                  <a:pt x="7034491" y="0"/>
                </a:lnTo>
                <a:lnTo>
                  <a:pt x="7034491" y="5644962"/>
                </a:lnTo>
                <a:lnTo>
                  <a:pt x="0" y="5644962"/>
                </a:lnTo>
                <a:lnTo>
                  <a:pt x="0" y="0"/>
                </a:lnTo>
                <a:close/>
              </a:path>
            </a:pathLst>
          </a:custGeom>
          <a:blipFill>
            <a:blip r:embed="rId4"/>
            <a:stretch>
              <a:fillRect l="0" t="0" r="0" b="0"/>
            </a:stretch>
          </a:blipFill>
        </p:spPr>
      </p:sp>
      <p:sp>
        <p:nvSpPr>
          <p:cNvPr name="TextBox 5" id="5"/>
          <p:cNvSpPr txBox="true"/>
          <p:nvPr/>
        </p:nvSpPr>
        <p:spPr>
          <a:xfrm rot="0">
            <a:off x="5180931" y="638585"/>
            <a:ext cx="7436763"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Machine Learning Model</a:t>
            </a:r>
          </a:p>
        </p:txBody>
      </p:sp>
      <p:sp>
        <p:nvSpPr>
          <p:cNvPr name="TextBox 6" id="6"/>
          <p:cNvSpPr txBox="true"/>
          <p:nvPr/>
        </p:nvSpPr>
        <p:spPr>
          <a:xfrm rot="0">
            <a:off x="0" y="1563661"/>
            <a:ext cx="11762485"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1-RandomForestClassifier(random_state=42)</a:t>
            </a:r>
          </a:p>
          <a:p>
            <a:pPr algn="ctr">
              <a:lnSpc>
                <a:spcPts val="5820"/>
              </a:lnSpc>
              <a:spcBef>
                <a:spcPct val="0"/>
              </a:spcBef>
            </a:pPr>
          </a:p>
        </p:txBody>
      </p:sp>
      <p:sp>
        <p:nvSpPr>
          <p:cNvPr name="TextBox 7" id="7"/>
          <p:cNvSpPr txBox="true"/>
          <p:nvPr/>
        </p:nvSpPr>
        <p:spPr>
          <a:xfrm rot="0">
            <a:off x="142884" y="8824595"/>
            <a:ext cx="17190184" cy="14624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"Despite extensive tuning, multiple architecture changes, and regularization attempts, the model still suffers from overfitting — it performs well on training data but fails to generalize to unseen samples."</a:t>
            </a:r>
          </a:p>
        </p:txBody>
      </p:sp>
      <p:sp>
        <p:nvSpPr>
          <p:cNvPr name="TextBox 8" id="8"/>
          <p:cNvSpPr txBox="true"/>
          <p:nvPr/>
        </p:nvSpPr>
        <p:spPr>
          <a:xfrm rot="0">
            <a:off x="405655" y="8085788"/>
            <a:ext cx="6594160"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Accuracy Score:0.85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218198" y="1586983"/>
            <a:ext cx="5558116" cy="5644962"/>
          </a:xfrm>
          <a:custGeom>
            <a:avLst/>
            <a:gdLst/>
            <a:ahLst/>
            <a:cxnLst/>
            <a:rect r="r" b="b" t="t" l="l"/>
            <a:pathLst>
              <a:path h="5644962" w="5558116">
                <a:moveTo>
                  <a:pt x="0" y="0"/>
                </a:moveTo>
                <a:lnTo>
                  <a:pt x="5558116" y="0"/>
                </a:lnTo>
                <a:lnTo>
                  <a:pt x="5558116" y="5644962"/>
                </a:lnTo>
                <a:lnTo>
                  <a:pt x="0" y="5644962"/>
                </a:lnTo>
                <a:lnTo>
                  <a:pt x="0" y="0"/>
                </a:lnTo>
                <a:close/>
              </a:path>
            </a:pathLst>
          </a:custGeom>
          <a:blipFill>
            <a:blip r:embed="rId2"/>
            <a:stretch>
              <a:fillRect l="0" t="0" r="0" b="0"/>
            </a:stretch>
          </a:blipFill>
        </p:spPr>
      </p:sp>
      <p:sp>
        <p:nvSpPr>
          <p:cNvPr name="Freeform 3" id="3"/>
          <p:cNvSpPr/>
          <p:nvPr/>
        </p:nvSpPr>
        <p:spPr>
          <a:xfrm flipH="false" flipV="false" rot="0">
            <a:off x="5776314" y="1586983"/>
            <a:ext cx="5756621" cy="5644962"/>
          </a:xfrm>
          <a:custGeom>
            <a:avLst/>
            <a:gdLst/>
            <a:ahLst/>
            <a:cxnLst/>
            <a:rect r="r" b="b" t="t" l="l"/>
            <a:pathLst>
              <a:path h="5644962" w="5756621">
                <a:moveTo>
                  <a:pt x="0" y="0"/>
                </a:moveTo>
                <a:lnTo>
                  <a:pt x="5756621" y="0"/>
                </a:lnTo>
                <a:lnTo>
                  <a:pt x="5756621" y="5644962"/>
                </a:lnTo>
                <a:lnTo>
                  <a:pt x="0" y="5644962"/>
                </a:lnTo>
                <a:lnTo>
                  <a:pt x="0" y="0"/>
                </a:lnTo>
                <a:close/>
              </a:path>
            </a:pathLst>
          </a:custGeom>
          <a:blipFill>
            <a:blip r:embed="rId3"/>
            <a:stretch>
              <a:fillRect l="0" t="0" r="0" b="0"/>
            </a:stretch>
          </a:blipFill>
        </p:spPr>
      </p:sp>
      <p:sp>
        <p:nvSpPr>
          <p:cNvPr name="Freeform 4" id="4"/>
          <p:cNvSpPr/>
          <p:nvPr/>
        </p:nvSpPr>
        <p:spPr>
          <a:xfrm flipH="false" flipV="false" rot="0">
            <a:off x="11532935" y="1586983"/>
            <a:ext cx="7034491" cy="5644962"/>
          </a:xfrm>
          <a:custGeom>
            <a:avLst/>
            <a:gdLst/>
            <a:ahLst/>
            <a:cxnLst/>
            <a:rect r="r" b="b" t="t" l="l"/>
            <a:pathLst>
              <a:path h="5644962" w="7034491">
                <a:moveTo>
                  <a:pt x="0" y="0"/>
                </a:moveTo>
                <a:lnTo>
                  <a:pt x="7034491" y="0"/>
                </a:lnTo>
                <a:lnTo>
                  <a:pt x="7034491" y="5644962"/>
                </a:lnTo>
                <a:lnTo>
                  <a:pt x="0" y="5644962"/>
                </a:lnTo>
                <a:lnTo>
                  <a:pt x="0" y="0"/>
                </a:lnTo>
                <a:close/>
              </a:path>
            </a:pathLst>
          </a:custGeom>
          <a:blipFill>
            <a:blip r:embed="rId4"/>
            <a:stretch>
              <a:fillRect l="0" t="0" r="0" b="0"/>
            </a:stretch>
          </a:blipFill>
        </p:spPr>
      </p:sp>
      <p:sp>
        <p:nvSpPr>
          <p:cNvPr name="TextBox 5" id="5"/>
          <p:cNvSpPr txBox="true"/>
          <p:nvPr/>
        </p:nvSpPr>
        <p:spPr>
          <a:xfrm rot="0">
            <a:off x="5320752" y="61821"/>
            <a:ext cx="7436763"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Machine Learning Model</a:t>
            </a:r>
          </a:p>
        </p:txBody>
      </p:sp>
      <p:sp>
        <p:nvSpPr>
          <p:cNvPr name="TextBox 6" id="6"/>
          <p:cNvSpPr txBox="true"/>
          <p:nvPr/>
        </p:nvSpPr>
        <p:spPr>
          <a:xfrm rot="0">
            <a:off x="-207572" y="830156"/>
            <a:ext cx="13525002"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2-GradientBoostingClassifier(random_state=42)</a:t>
            </a:r>
          </a:p>
          <a:p>
            <a:pPr algn="ctr">
              <a:lnSpc>
                <a:spcPts val="5820"/>
              </a:lnSpc>
              <a:spcBef>
                <a:spcPct val="0"/>
              </a:spcBef>
            </a:pPr>
          </a:p>
        </p:txBody>
      </p:sp>
      <p:sp>
        <p:nvSpPr>
          <p:cNvPr name="TextBox 7" id="7"/>
          <p:cNvSpPr txBox="true"/>
          <p:nvPr/>
        </p:nvSpPr>
        <p:spPr>
          <a:xfrm rot="0">
            <a:off x="358020" y="7422421"/>
            <a:ext cx="6594160"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Accuracy Score:0.86</a:t>
            </a:r>
          </a:p>
        </p:txBody>
      </p:sp>
      <p:sp>
        <p:nvSpPr>
          <p:cNvPr name="TextBox 8" id="8"/>
          <p:cNvSpPr txBox="true"/>
          <p:nvPr/>
        </p:nvSpPr>
        <p:spPr>
          <a:xfrm rot="0">
            <a:off x="444042" y="8433435"/>
            <a:ext cx="17190184" cy="14624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"Despite extensive tuning, multiple architecture changes, and regularization attempts, the model still suffers from overfitting — it performs well on training data but fails to generalize to unseen samples."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1591769"/>
            <a:ext cx="5558116" cy="5644962"/>
          </a:xfrm>
          <a:custGeom>
            <a:avLst/>
            <a:gdLst/>
            <a:ahLst/>
            <a:cxnLst/>
            <a:rect r="r" b="b" t="t" l="l"/>
            <a:pathLst>
              <a:path h="5644962" w="5558116">
                <a:moveTo>
                  <a:pt x="0" y="0"/>
                </a:moveTo>
                <a:lnTo>
                  <a:pt x="5558116" y="0"/>
                </a:lnTo>
                <a:lnTo>
                  <a:pt x="5558116" y="5644962"/>
                </a:lnTo>
                <a:lnTo>
                  <a:pt x="0" y="5644962"/>
                </a:lnTo>
                <a:lnTo>
                  <a:pt x="0" y="0"/>
                </a:lnTo>
                <a:close/>
              </a:path>
            </a:pathLst>
          </a:custGeom>
          <a:blipFill>
            <a:blip r:embed="rId2"/>
            <a:stretch>
              <a:fillRect l="0" t="0" r="0" b="0"/>
            </a:stretch>
          </a:blipFill>
        </p:spPr>
      </p:sp>
      <p:sp>
        <p:nvSpPr>
          <p:cNvPr name="Freeform 3" id="3"/>
          <p:cNvSpPr/>
          <p:nvPr/>
        </p:nvSpPr>
        <p:spPr>
          <a:xfrm flipH="false" flipV="false" rot="0">
            <a:off x="5558116" y="1591769"/>
            <a:ext cx="5558116" cy="5644962"/>
          </a:xfrm>
          <a:custGeom>
            <a:avLst/>
            <a:gdLst/>
            <a:ahLst/>
            <a:cxnLst/>
            <a:rect r="r" b="b" t="t" l="l"/>
            <a:pathLst>
              <a:path h="5644962" w="5558116">
                <a:moveTo>
                  <a:pt x="0" y="0"/>
                </a:moveTo>
                <a:lnTo>
                  <a:pt x="5558117" y="0"/>
                </a:lnTo>
                <a:lnTo>
                  <a:pt x="5558117" y="5644962"/>
                </a:lnTo>
                <a:lnTo>
                  <a:pt x="0" y="5644962"/>
                </a:lnTo>
                <a:lnTo>
                  <a:pt x="0" y="0"/>
                </a:lnTo>
                <a:close/>
              </a:path>
            </a:pathLst>
          </a:custGeom>
          <a:blipFill>
            <a:blip r:embed="rId3"/>
            <a:stretch>
              <a:fillRect l="0" t="0" r="0" b="0"/>
            </a:stretch>
          </a:blipFill>
        </p:spPr>
      </p:sp>
      <p:sp>
        <p:nvSpPr>
          <p:cNvPr name="Freeform 4" id="4"/>
          <p:cNvSpPr/>
          <p:nvPr/>
        </p:nvSpPr>
        <p:spPr>
          <a:xfrm flipH="false" flipV="false" rot="0">
            <a:off x="11116233" y="1591769"/>
            <a:ext cx="7034491" cy="5644962"/>
          </a:xfrm>
          <a:custGeom>
            <a:avLst/>
            <a:gdLst/>
            <a:ahLst/>
            <a:cxnLst/>
            <a:rect r="r" b="b" t="t" l="l"/>
            <a:pathLst>
              <a:path h="5644962" w="7034491">
                <a:moveTo>
                  <a:pt x="0" y="0"/>
                </a:moveTo>
                <a:lnTo>
                  <a:pt x="7034491" y="0"/>
                </a:lnTo>
                <a:lnTo>
                  <a:pt x="7034491" y="5644962"/>
                </a:lnTo>
                <a:lnTo>
                  <a:pt x="0" y="5644962"/>
                </a:lnTo>
                <a:lnTo>
                  <a:pt x="0" y="0"/>
                </a:lnTo>
                <a:close/>
              </a:path>
            </a:pathLst>
          </a:custGeom>
          <a:blipFill>
            <a:blip r:embed="rId4"/>
            <a:stretch>
              <a:fillRect l="0" t="0" r="0" b="0"/>
            </a:stretch>
          </a:blipFill>
        </p:spPr>
      </p:sp>
      <p:sp>
        <p:nvSpPr>
          <p:cNvPr name="TextBox 5" id="5"/>
          <p:cNvSpPr txBox="true"/>
          <p:nvPr/>
        </p:nvSpPr>
        <p:spPr>
          <a:xfrm rot="0">
            <a:off x="5320752" y="61821"/>
            <a:ext cx="7436763"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Machine Learning Model</a:t>
            </a:r>
          </a:p>
        </p:txBody>
      </p:sp>
      <p:sp>
        <p:nvSpPr>
          <p:cNvPr name="TextBox 6" id="6"/>
          <p:cNvSpPr txBox="true"/>
          <p:nvPr/>
        </p:nvSpPr>
        <p:spPr>
          <a:xfrm rot="0">
            <a:off x="-113715" y="834942"/>
            <a:ext cx="14763188"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3-LogisticRegression(random_state=42, max_iter=50)</a:t>
            </a:r>
          </a:p>
          <a:p>
            <a:pPr algn="ctr">
              <a:lnSpc>
                <a:spcPts val="5820"/>
              </a:lnSpc>
              <a:spcBef>
                <a:spcPct val="0"/>
              </a:spcBef>
            </a:pPr>
          </a:p>
        </p:txBody>
      </p:sp>
      <p:sp>
        <p:nvSpPr>
          <p:cNvPr name="TextBox 7" id="7"/>
          <p:cNvSpPr txBox="true"/>
          <p:nvPr/>
        </p:nvSpPr>
        <p:spPr>
          <a:xfrm rot="0">
            <a:off x="113332" y="7422421"/>
            <a:ext cx="6594160"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Accuracy Score:0.88</a:t>
            </a:r>
          </a:p>
        </p:txBody>
      </p:sp>
      <p:sp>
        <p:nvSpPr>
          <p:cNvPr name="TextBox 8" id="8"/>
          <p:cNvSpPr txBox="true"/>
          <p:nvPr/>
        </p:nvSpPr>
        <p:spPr>
          <a:xfrm rot="0">
            <a:off x="384509" y="8336001"/>
            <a:ext cx="17518982" cy="9671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"Using a Logistic Regression model, overfitting was reduced by 50% through careful feature selection and regularization techniques, resulting in improved generalization on unseen data."</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95317" y="1709327"/>
            <a:ext cx="5558116" cy="5644962"/>
          </a:xfrm>
          <a:custGeom>
            <a:avLst/>
            <a:gdLst/>
            <a:ahLst/>
            <a:cxnLst/>
            <a:rect r="r" b="b" t="t" l="l"/>
            <a:pathLst>
              <a:path h="5644962" w="5558116">
                <a:moveTo>
                  <a:pt x="0" y="0"/>
                </a:moveTo>
                <a:lnTo>
                  <a:pt x="5558117" y="0"/>
                </a:lnTo>
                <a:lnTo>
                  <a:pt x="5558117" y="5644962"/>
                </a:lnTo>
                <a:lnTo>
                  <a:pt x="0" y="5644962"/>
                </a:lnTo>
                <a:lnTo>
                  <a:pt x="0" y="0"/>
                </a:lnTo>
                <a:close/>
              </a:path>
            </a:pathLst>
          </a:custGeom>
          <a:blipFill>
            <a:blip r:embed="rId2"/>
            <a:stretch>
              <a:fillRect l="0" t="0" r="0" b="0"/>
            </a:stretch>
          </a:blipFill>
        </p:spPr>
      </p:sp>
      <p:sp>
        <p:nvSpPr>
          <p:cNvPr name="Freeform 3" id="3"/>
          <p:cNvSpPr/>
          <p:nvPr/>
        </p:nvSpPr>
        <p:spPr>
          <a:xfrm flipH="false" flipV="false" rot="0">
            <a:off x="5831978" y="1709327"/>
            <a:ext cx="5558116" cy="5644962"/>
          </a:xfrm>
          <a:custGeom>
            <a:avLst/>
            <a:gdLst/>
            <a:ahLst/>
            <a:cxnLst/>
            <a:rect r="r" b="b" t="t" l="l"/>
            <a:pathLst>
              <a:path h="5644962" w="5558116">
                <a:moveTo>
                  <a:pt x="0" y="0"/>
                </a:moveTo>
                <a:lnTo>
                  <a:pt x="5558116" y="0"/>
                </a:lnTo>
                <a:lnTo>
                  <a:pt x="5558116" y="5644962"/>
                </a:lnTo>
                <a:lnTo>
                  <a:pt x="0" y="5644962"/>
                </a:lnTo>
                <a:lnTo>
                  <a:pt x="0" y="0"/>
                </a:lnTo>
                <a:close/>
              </a:path>
            </a:pathLst>
          </a:custGeom>
          <a:blipFill>
            <a:blip r:embed="rId3"/>
            <a:stretch>
              <a:fillRect l="0" t="0" r="0" b="0"/>
            </a:stretch>
          </a:blipFill>
        </p:spPr>
      </p:sp>
      <p:sp>
        <p:nvSpPr>
          <p:cNvPr name="Freeform 4" id="4"/>
          <p:cNvSpPr/>
          <p:nvPr/>
        </p:nvSpPr>
        <p:spPr>
          <a:xfrm flipH="false" flipV="false" rot="0">
            <a:off x="11468638" y="1709327"/>
            <a:ext cx="7034491" cy="5644962"/>
          </a:xfrm>
          <a:custGeom>
            <a:avLst/>
            <a:gdLst/>
            <a:ahLst/>
            <a:cxnLst/>
            <a:rect r="r" b="b" t="t" l="l"/>
            <a:pathLst>
              <a:path h="5644962" w="7034491">
                <a:moveTo>
                  <a:pt x="0" y="0"/>
                </a:moveTo>
                <a:lnTo>
                  <a:pt x="7034491" y="0"/>
                </a:lnTo>
                <a:lnTo>
                  <a:pt x="7034491" y="5644962"/>
                </a:lnTo>
                <a:lnTo>
                  <a:pt x="0" y="5644962"/>
                </a:lnTo>
                <a:lnTo>
                  <a:pt x="0" y="0"/>
                </a:lnTo>
                <a:close/>
              </a:path>
            </a:pathLst>
          </a:custGeom>
          <a:blipFill>
            <a:blip r:embed="rId4"/>
            <a:stretch>
              <a:fillRect l="0" t="0" r="0" b="0"/>
            </a:stretch>
          </a:blipFill>
        </p:spPr>
      </p:sp>
      <p:sp>
        <p:nvSpPr>
          <p:cNvPr name="TextBox 5" id="5"/>
          <p:cNvSpPr txBox="true"/>
          <p:nvPr/>
        </p:nvSpPr>
        <p:spPr>
          <a:xfrm rot="0">
            <a:off x="433745" y="952500"/>
            <a:ext cx="16825555"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4-XGBClassifier(use_label_encoder=False, eval_metric="logloss")</a:t>
            </a:r>
          </a:p>
          <a:p>
            <a:pPr algn="ctr">
              <a:lnSpc>
                <a:spcPts val="5820"/>
              </a:lnSpc>
              <a:spcBef>
                <a:spcPct val="0"/>
              </a:spcBef>
            </a:pPr>
          </a:p>
        </p:txBody>
      </p:sp>
      <p:sp>
        <p:nvSpPr>
          <p:cNvPr name="TextBox 6" id="6"/>
          <p:cNvSpPr txBox="true"/>
          <p:nvPr/>
        </p:nvSpPr>
        <p:spPr>
          <a:xfrm rot="0">
            <a:off x="5320752" y="61821"/>
            <a:ext cx="7436763"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Machine Learning Model</a:t>
            </a:r>
          </a:p>
        </p:txBody>
      </p:sp>
      <p:sp>
        <p:nvSpPr>
          <p:cNvPr name="TextBox 7" id="7"/>
          <p:cNvSpPr txBox="true"/>
          <p:nvPr/>
        </p:nvSpPr>
        <p:spPr>
          <a:xfrm rot="0">
            <a:off x="358020" y="7422421"/>
            <a:ext cx="6594160"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Accuracy Score:0.86</a:t>
            </a:r>
          </a:p>
        </p:txBody>
      </p:sp>
      <p:sp>
        <p:nvSpPr>
          <p:cNvPr name="TextBox 8" id="8"/>
          <p:cNvSpPr txBox="true"/>
          <p:nvPr/>
        </p:nvSpPr>
        <p:spPr>
          <a:xfrm rot="0">
            <a:off x="195317" y="8345526"/>
            <a:ext cx="17190184" cy="14624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"Despite extensive tuning, multiple architecture changes, and regularization attempts, the model still suffers from overfitting — it performs well on training data but fails to generalize to unseen samples."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1446478"/>
            <a:ext cx="5558116" cy="5644962"/>
          </a:xfrm>
          <a:custGeom>
            <a:avLst/>
            <a:gdLst/>
            <a:ahLst/>
            <a:cxnLst/>
            <a:rect r="r" b="b" t="t" l="l"/>
            <a:pathLst>
              <a:path h="5644962" w="5558116">
                <a:moveTo>
                  <a:pt x="0" y="0"/>
                </a:moveTo>
                <a:lnTo>
                  <a:pt x="5558116" y="0"/>
                </a:lnTo>
                <a:lnTo>
                  <a:pt x="5558116" y="5644962"/>
                </a:lnTo>
                <a:lnTo>
                  <a:pt x="0" y="5644962"/>
                </a:lnTo>
                <a:lnTo>
                  <a:pt x="0" y="0"/>
                </a:lnTo>
                <a:close/>
              </a:path>
            </a:pathLst>
          </a:custGeom>
          <a:blipFill>
            <a:blip r:embed="rId2"/>
            <a:stretch>
              <a:fillRect l="0" t="0" r="0" b="0"/>
            </a:stretch>
          </a:blipFill>
        </p:spPr>
      </p:sp>
      <p:sp>
        <p:nvSpPr>
          <p:cNvPr name="Freeform 3" id="3"/>
          <p:cNvSpPr/>
          <p:nvPr/>
        </p:nvSpPr>
        <p:spPr>
          <a:xfrm flipH="false" flipV="false" rot="0">
            <a:off x="5558116" y="1446478"/>
            <a:ext cx="5558116" cy="5644962"/>
          </a:xfrm>
          <a:custGeom>
            <a:avLst/>
            <a:gdLst/>
            <a:ahLst/>
            <a:cxnLst/>
            <a:rect r="r" b="b" t="t" l="l"/>
            <a:pathLst>
              <a:path h="5644962" w="5558116">
                <a:moveTo>
                  <a:pt x="0" y="0"/>
                </a:moveTo>
                <a:lnTo>
                  <a:pt x="5558117" y="0"/>
                </a:lnTo>
                <a:lnTo>
                  <a:pt x="5558117" y="5644962"/>
                </a:lnTo>
                <a:lnTo>
                  <a:pt x="0" y="5644962"/>
                </a:lnTo>
                <a:lnTo>
                  <a:pt x="0" y="0"/>
                </a:lnTo>
                <a:close/>
              </a:path>
            </a:pathLst>
          </a:custGeom>
          <a:blipFill>
            <a:blip r:embed="rId3"/>
            <a:stretch>
              <a:fillRect l="0" t="0" r="0" b="0"/>
            </a:stretch>
          </a:blipFill>
        </p:spPr>
      </p:sp>
      <p:sp>
        <p:nvSpPr>
          <p:cNvPr name="Freeform 4" id="4"/>
          <p:cNvSpPr/>
          <p:nvPr/>
        </p:nvSpPr>
        <p:spPr>
          <a:xfrm flipH="false" flipV="false" rot="0">
            <a:off x="11141850" y="1446478"/>
            <a:ext cx="7146150" cy="5644962"/>
          </a:xfrm>
          <a:custGeom>
            <a:avLst/>
            <a:gdLst/>
            <a:ahLst/>
            <a:cxnLst/>
            <a:rect r="r" b="b" t="t" l="l"/>
            <a:pathLst>
              <a:path h="5644962" w="7146150">
                <a:moveTo>
                  <a:pt x="0" y="0"/>
                </a:moveTo>
                <a:lnTo>
                  <a:pt x="7146150" y="0"/>
                </a:lnTo>
                <a:lnTo>
                  <a:pt x="7146150" y="5644962"/>
                </a:lnTo>
                <a:lnTo>
                  <a:pt x="0" y="5644962"/>
                </a:lnTo>
                <a:lnTo>
                  <a:pt x="0" y="0"/>
                </a:lnTo>
                <a:close/>
              </a:path>
            </a:pathLst>
          </a:custGeom>
          <a:blipFill>
            <a:blip r:embed="rId4"/>
            <a:stretch>
              <a:fillRect l="0" t="0" r="0" b="0"/>
            </a:stretch>
          </a:blipFill>
        </p:spPr>
      </p:sp>
      <p:sp>
        <p:nvSpPr>
          <p:cNvPr name="TextBox 5" id="5"/>
          <p:cNvSpPr txBox="true"/>
          <p:nvPr/>
        </p:nvSpPr>
        <p:spPr>
          <a:xfrm rot="0">
            <a:off x="5320752" y="61821"/>
            <a:ext cx="7436763"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Machine Learning Model</a:t>
            </a:r>
          </a:p>
        </p:txBody>
      </p:sp>
      <p:sp>
        <p:nvSpPr>
          <p:cNvPr name="TextBox 6" id="6"/>
          <p:cNvSpPr txBox="true"/>
          <p:nvPr/>
        </p:nvSpPr>
        <p:spPr>
          <a:xfrm rot="0">
            <a:off x="-1983828" y="689651"/>
            <a:ext cx="10586020"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SVC(probability=True)</a:t>
            </a:r>
          </a:p>
          <a:p>
            <a:pPr algn="ctr">
              <a:lnSpc>
                <a:spcPts val="5820"/>
              </a:lnSpc>
              <a:spcBef>
                <a:spcPct val="0"/>
              </a:spcBef>
            </a:pPr>
          </a:p>
        </p:txBody>
      </p:sp>
      <p:sp>
        <p:nvSpPr>
          <p:cNvPr name="TextBox 7" id="7"/>
          <p:cNvSpPr txBox="true"/>
          <p:nvPr/>
        </p:nvSpPr>
        <p:spPr>
          <a:xfrm rot="0">
            <a:off x="12102" y="7212689"/>
            <a:ext cx="6594160"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Accuracy Score:0.87</a:t>
            </a:r>
          </a:p>
        </p:txBody>
      </p:sp>
      <p:sp>
        <p:nvSpPr>
          <p:cNvPr name="TextBox 8" id="8"/>
          <p:cNvSpPr txBox="true"/>
          <p:nvPr/>
        </p:nvSpPr>
        <p:spPr>
          <a:xfrm rot="0">
            <a:off x="0" y="8336001"/>
            <a:ext cx="18288000" cy="9671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"Using a SVC model, overfitting was reduced by 30% through careful feature selection and regularization techniques, resulting in improved generalization on unseen data."</a:t>
            </a:r>
          </a:p>
        </p:txBody>
      </p:sp>
    </p:spTree>
  </p:cSld>
  <p:clrMapOvr>
    <a:masterClrMapping/>
  </p:clrMapOvr>
</p:sld>
</file>

<file path=ppt/slides/slide20.xml><?xml version="1.0" encoding="utf-8"?>
<p:sld xmlns:p="http://schemas.openxmlformats.org/presentationml/2006/main" xmlns:a="http://schemas.openxmlformats.org/drawingml/2006/main">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570865" y="436396"/>
            <a:ext cx="9170327"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What Is a Neural Network?</a:t>
            </a:r>
          </a:p>
          <a:p>
            <a:pPr algn="ctr">
              <a:lnSpc>
                <a:spcPts val="5820"/>
              </a:lnSpc>
              <a:spcBef>
                <a:spcPct val="0"/>
              </a:spcBef>
            </a:pPr>
          </a:p>
        </p:txBody>
      </p:sp>
      <p:sp>
        <p:nvSpPr>
          <p:cNvPr name="TextBox 3" id="3"/>
          <p:cNvSpPr txBox="true"/>
          <p:nvPr/>
        </p:nvSpPr>
        <p:spPr>
          <a:xfrm rot="0">
            <a:off x="0" y="2123346"/>
            <a:ext cx="14151468" cy="14624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-A Neural Network is a machine learning model inspired by the structure of the human brain. It consists of layers of interconnected nodes (neurons) that learn patterns from data through weighted connections and activation functions.</a:t>
            </a:r>
          </a:p>
        </p:txBody>
      </p:sp>
      <p:sp>
        <p:nvSpPr>
          <p:cNvPr name="TextBox 4" id="4"/>
          <p:cNvSpPr txBox="true"/>
          <p:nvPr/>
        </p:nvSpPr>
        <p:spPr>
          <a:xfrm rot="0">
            <a:off x="110765" y="4211577"/>
            <a:ext cx="6338941" cy="1437455"/>
          </a:xfrm>
          <a:prstGeom prst="rect">
            <a:avLst/>
          </a:prstGeom>
        </p:spPr>
        <p:txBody>
          <a:bodyPr anchor="t" rtlCol="false" tIns="0" lIns="0" bIns="0" rIns="0">
            <a:spAutoFit/>
          </a:bodyPr>
          <a:lstStyle/>
          <a:p>
            <a:pPr algn="ctr">
              <a:lnSpc>
                <a:spcPts val="5820"/>
              </a:lnSpc>
            </a:pPr>
            <a:r>
              <a:rPr lang="en-US" sz="4157">
                <a:solidFill>
                  <a:srgbClr val="FFFFFF"/>
                </a:solidFill>
                <a:latin typeface="Montserrat"/>
                <a:ea typeface="Montserrat"/>
                <a:cs typeface="Montserrat"/>
                <a:sym typeface="Montserrat"/>
              </a:rPr>
              <a:t>🔧 Core Components:</a:t>
            </a:r>
          </a:p>
          <a:p>
            <a:pPr algn="ctr">
              <a:lnSpc>
                <a:spcPts val="5820"/>
              </a:lnSpc>
              <a:spcBef>
                <a:spcPct val="0"/>
              </a:spcBef>
            </a:pPr>
          </a:p>
        </p:txBody>
      </p:sp>
      <p:sp>
        <p:nvSpPr>
          <p:cNvPr name="TextBox 5" id="5"/>
          <p:cNvSpPr txBox="true"/>
          <p:nvPr/>
        </p:nvSpPr>
        <p:spPr>
          <a:xfrm rot="0">
            <a:off x="-2913233" y="5340244"/>
            <a:ext cx="19019005" cy="1462405"/>
          </a:xfrm>
          <a:prstGeom prst="rect">
            <a:avLst/>
          </a:prstGeom>
        </p:spPr>
        <p:txBody>
          <a:bodyPr anchor="t" rtlCol="false" tIns="0" lIns="0" bIns="0" rIns="0">
            <a:spAutoFit/>
          </a:bodyPr>
          <a:lstStyle/>
          <a:p>
            <a:pPr algn="ctr">
              <a:lnSpc>
                <a:spcPts val="3919"/>
              </a:lnSpc>
            </a:pPr>
            <a:r>
              <a:rPr lang="en-US" sz="2799">
                <a:solidFill>
                  <a:srgbClr val="FFFFFF"/>
                </a:solidFill>
                <a:latin typeface="Montserrat"/>
                <a:ea typeface="Montserrat"/>
                <a:cs typeface="Montserrat"/>
                <a:sym typeface="Montserrat"/>
              </a:rPr>
              <a:t> Input Layer: Receives the raw features (e.g., age, blood pressure, etc.).</a:t>
            </a:r>
          </a:p>
          <a:p>
            <a:pPr algn="ctr">
              <a:lnSpc>
                <a:spcPts val="3919"/>
              </a:lnSpc>
            </a:pPr>
            <a:r>
              <a:rPr lang="en-US" sz="2799">
                <a:solidFill>
                  <a:srgbClr val="FFFFFF"/>
                </a:solidFill>
                <a:latin typeface="Montserrat"/>
                <a:ea typeface="Montserrat"/>
                <a:cs typeface="Montserrat"/>
                <a:sym typeface="Montserrat"/>
              </a:rPr>
              <a:t>                                 </a:t>
            </a:r>
            <a:r>
              <a:rPr lang="en-US" sz="2799">
                <a:solidFill>
                  <a:srgbClr val="FFFFFF"/>
                </a:solidFill>
                <a:latin typeface="Montserrat"/>
                <a:ea typeface="Montserrat"/>
                <a:cs typeface="Montserrat"/>
                <a:sym typeface="Montserrat"/>
              </a:rPr>
              <a:t>Hidden Layers: Perform computations using weights, biases, and activation functions.</a:t>
            </a:r>
          </a:p>
          <a:p>
            <a:pPr algn="ctr">
              <a:lnSpc>
                <a:spcPts val="3919"/>
              </a:lnSpc>
              <a:spcBef>
                <a:spcPct val="0"/>
              </a:spcBef>
            </a:pPr>
            <a:r>
              <a:rPr lang="en-US" sz="2799">
                <a:solidFill>
                  <a:srgbClr val="FFFFFF"/>
                </a:solidFill>
                <a:latin typeface="Montserrat"/>
                <a:ea typeface="Montserrat"/>
                <a:cs typeface="Montserrat"/>
                <a:sym typeface="Montserrat"/>
              </a:rPr>
              <a:t>         </a:t>
            </a:r>
            <a:r>
              <a:rPr lang="en-US" sz="2799">
                <a:solidFill>
                  <a:srgbClr val="FFFFFF"/>
                </a:solidFill>
                <a:latin typeface="Montserrat"/>
                <a:ea typeface="Montserrat"/>
                <a:cs typeface="Montserrat"/>
                <a:sym typeface="Montserrat"/>
              </a:rPr>
              <a:t> Output Layer: Produces the final prediction (e.g., disease presence: yes/no)</a:t>
            </a:r>
          </a:p>
        </p:txBody>
      </p:sp>
      <p:sp>
        <p:nvSpPr>
          <p:cNvPr name="TextBox 6" id="6"/>
          <p:cNvSpPr txBox="true"/>
          <p:nvPr/>
        </p:nvSpPr>
        <p:spPr>
          <a:xfrm rot="0">
            <a:off x="442841" y="7959119"/>
            <a:ext cx="13539749" cy="9671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"Smart architecture + regularization = 90% less overfitting. Neural networks deliver robust predictions, not just memorization."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3336071" y="2187583"/>
            <a:ext cx="11301259" cy="3672909"/>
          </a:xfrm>
          <a:custGeom>
            <a:avLst/>
            <a:gdLst/>
            <a:ahLst/>
            <a:cxnLst/>
            <a:rect r="r" b="b" t="t" l="l"/>
            <a:pathLst>
              <a:path h="3672909" w="11301259">
                <a:moveTo>
                  <a:pt x="0" y="0"/>
                </a:moveTo>
                <a:lnTo>
                  <a:pt x="11301259" y="0"/>
                </a:lnTo>
                <a:lnTo>
                  <a:pt x="11301259" y="3672909"/>
                </a:lnTo>
                <a:lnTo>
                  <a:pt x="0" y="3672909"/>
                </a:lnTo>
                <a:lnTo>
                  <a:pt x="0" y="0"/>
                </a:lnTo>
                <a:close/>
              </a:path>
            </a:pathLst>
          </a:custGeom>
          <a:blipFill>
            <a:blip r:embed="rId2"/>
            <a:stretch>
              <a:fillRect l="0" t="0" r="0" b="0"/>
            </a:stretch>
          </a:blipFill>
        </p:spPr>
      </p:sp>
      <p:sp>
        <p:nvSpPr>
          <p:cNvPr name="Freeform 3" id="3"/>
          <p:cNvSpPr/>
          <p:nvPr/>
        </p:nvSpPr>
        <p:spPr>
          <a:xfrm flipH="false" flipV="false" rot="0">
            <a:off x="3336071" y="5984317"/>
            <a:ext cx="11301259" cy="2655796"/>
          </a:xfrm>
          <a:custGeom>
            <a:avLst/>
            <a:gdLst/>
            <a:ahLst/>
            <a:cxnLst/>
            <a:rect r="r" b="b" t="t" l="l"/>
            <a:pathLst>
              <a:path h="2655796" w="11301259">
                <a:moveTo>
                  <a:pt x="0" y="0"/>
                </a:moveTo>
                <a:lnTo>
                  <a:pt x="11301259" y="0"/>
                </a:lnTo>
                <a:lnTo>
                  <a:pt x="11301259" y="2655796"/>
                </a:lnTo>
                <a:lnTo>
                  <a:pt x="0" y="2655796"/>
                </a:lnTo>
                <a:lnTo>
                  <a:pt x="0" y="0"/>
                </a:lnTo>
                <a:close/>
              </a:path>
            </a:pathLst>
          </a:custGeom>
          <a:blipFill>
            <a:blip r:embed="rId3"/>
            <a:stretch>
              <a:fillRect l="0" t="0" r="0" b="0"/>
            </a:stretch>
          </a:blipFill>
        </p:spPr>
      </p:sp>
      <p:sp>
        <p:nvSpPr>
          <p:cNvPr name="TextBox 4" id="4"/>
          <p:cNvSpPr txBox="true"/>
          <p:nvPr/>
        </p:nvSpPr>
        <p:spPr>
          <a:xfrm rot="0">
            <a:off x="4964134" y="1362713"/>
            <a:ext cx="9443349"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📐Nueral Network A</a:t>
            </a:r>
            <a:r>
              <a:rPr lang="en-US" sz="4157">
                <a:solidFill>
                  <a:srgbClr val="FFFFFF"/>
                </a:solidFill>
                <a:latin typeface="Montserrat"/>
                <a:ea typeface="Montserrat"/>
                <a:cs typeface="Montserrat"/>
                <a:sym typeface="Montserrat"/>
              </a:rPr>
              <a:t>rchitecture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3178772" y="784012"/>
            <a:ext cx="11301259" cy="5311592"/>
          </a:xfrm>
          <a:custGeom>
            <a:avLst/>
            <a:gdLst/>
            <a:ahLst/>
            <a:cxnLst/>
            <a:rect r="r" b="b" t="t" l="l"/>
            <a:pathLst>
              <a:path h="5311592" w="11301259">
                <a:moveTo>
                  <a:pt x="0" y="0"/>
                </a:moveTo>
                <a:lnTo>
                  <a:pt x="11301259" y="0"/>
                </a:lnTo>
                <a:lnTo>
                  <a:pt x="11301259" y="5311592"/>
                </a:lnTo>
                <a:lnTo>
                  <a:pt x="0" y="5311592"/>
                </a:lnTo>
                <a:lnTo>
                  <a:pt x="0" y="0"/>
                </a:lnTo>
                <a:close/>
              </a:path>
            </a:pathLst>
          </a:custGeom>
          <a:blipFill>
            <a:blip r:embed="rId2"/>
            <a:stretch>
              <a:fillRect l="0" t="0" r="0" b="0"/>
            </a:stretch>
          </a:blipFill>
        </p:spPr>
      </p:sp>
      <p:sp>
        <p:nvSpPr>
          <p:cNvPr name="TextBox 3" id="3"/>
          <p:cNvSpPr txBox="true"/>
          <p:nvPr/>
        </p:nvSpPr>
        <p:spPr>
          <a:xfrm rot="0">
            <a:off x="0" y="6234746"/>
            <a:ext cx="7660299"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Test Accuracy:0.94</a:t>
            </a:r>
          </a:p>
        </p:txBody>
      </p:sp>
      <p:sp>
        <p:nvSpPr>
          <p:cNvPr name="TextBox 4" id="4"/>
          <p:cNvSpPr txBox="true"/>
          <p:nvPr/>
        </p:nvSpPr>
        <p:spPr>
          <a:xfrm rot="0">
            <a:off x="5983268" y="79983"/>
            <a:ext cx="7282736"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Nueral Network Accuracy</a:t>
            </a:r>
          </a:p>
        </p:txBody>
      </p:sp>
      <p:sp>
        <p:nvSpPr>
          <p:cNvPr name="TextBox 5" id="5"/>
          <p:cNvSpPr txBox="true"/>
          <p:nvPr/>
        </p:nvSpPr>
        <p:spPr>
          <a:xfrm rot="0">
            <a:off x="204356" y="7106493"/>
            <a:ext cx="16050856" cy="9671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"The neural network outperformed traditional ML models, delivering higher accuracy and better generalization."</a:t>
            </a:r>
          </a:p>
        </p:txBody>
      </p:sp>
      <p:sp>
        <p:nvSpPr>
          <p:cNvPr name="TextBox 6" id="6"/>
          <p:cNvSpPr txBox="true"/>
          <p:nvPr/>
        </p:nvSpPr>
        <p:spPr>
          <a:xfrm rot="0">
            <a:off x="204356" y="8291195"/>
            <a:ext cx="15497250" cy="9671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"Compared to classic ML algorithms, the neural network achieved superior results with reduced overfitting and enhanced robustness.</a:t>
            </a:r>
          </a:p>
        </p:txBody>
      </p:sp>
      <p:sp>
        <p:nvSpPr>
          <p:cNvPr name="TextBox 7" id="7"/>
          <p:cNvSpPr txBox="true"/>
          <p:nvPr/>
        </p:nvSpPr>
        <p:spPr>
          <a:xfrm rot="0">
            <a:off x="8041308" y="6234746"/>
            <a:ext cx="7660299" cy="704030"/>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Test loss:0.21</a:t>
            </a:r>
          </a:p>
        </p:txBody>
      </p:sp>
    </p:spTree>
  </p:cSld>
  <p:clrMapOvr>
    <a:masterClrMapping/>
  </p:clrMapOvr>
</p:sld>
</file>

<file path=ppt/slides/slide23.xml><?xml version="1.0" encoding="utf-8"?>
<p:sld xmlns:p="http://schemas.openxmlformats.org/presentationml/2006/main" xmlns:a="http://schemas.openxmlformats.org/drawingml/2006/main">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40475" y="952500"/>
            <a:ext cx="18247525" cy="5838005"/>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Montserrat"/>
                <a:ea typeface="Montserrat"/>
                <a:cs typeface="Montserrat"/>
                <a:sym typeface="Montserrat"/>
              </a:rPr>
              <a:t>🧠 Conclusion </a:t>
            </a:r>
          </a:p>
          <a:p>
            <a:pPr algn="ctr">
              <a:lnSpc>
                <a:spcPts val="5820"/>
              </a:lnSpc>
              <a:spcBef>
                <a:spcPct val="0"/>
              </a:spcBef>
            </a:pPr>
            <a:r>
              <a:rPr lang="en-US" sz="4157">
                <a:solidFill>
                  <a:srgbClr val="FFFFFF"/>
                </a:solidFill>
                <a:latin typeface="Montserrat"/>
                <a:ea typeface="Montserrat"/>
                <a:cs typeface="Montserrat"/>
                <a:sym typeface="Montserrat"/>
              </a:rPr>
              <a:t>After extensive experimentation, rigorous tuning, and countless iterations, the neural network emerged as the most resilient and accurate model. It not only outperformed traditional ML algorithms but also overcame overfitting by 90%, proving its capability to generalize across diverse clinical data. This project highlights the power of smart architecture, thoughtful preprocessing, and deep learning in solving real-world healthcare challenges.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DAGVt37KuiA</dc:identifier>
  <dcterms:modified xsi:type="dcterms:W3CDTF">2011-08-01T06:04:30Z</dcterms:modified>
  <cp:revision>1</cp:revision>
  <dc:title>project</dc:title>
</cp:coreProperties>
</file>